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A5C"/>
        </a:solidFill>
      </p:bgPr>
    </p:bg>
    <p:spTree>
      <p:nvGrpSpPr>
        <p:cNvPr id="15" name="Shape 15"/>
        <p:cNvGrpSpPr/>
        <p:nvPr/>
      </p:nvGrpSpPr>
      <p:grpSpPr>
        <a:xfrm>
          <a:off x="0" y="0"/>
          <a:ext cx="0" cy="0"/>
          <a:chOff x="0" y="0"/>
          <a:chExt cx="0" cy="0"/>
        </a:xfrm>
      </p:grpSpPr>
      <p:sp>
        <p:nvSpPr>
          <p:cNvPr id="16" name="Google Shape;16;p3"/>
          <p:cNvSpPr/>
          <p:nvPr/>
        </p:nvSpPr>
        <p:spPr>
          <a:xfrm>
            <a:off x="0" y="0"/>
            <a:ext cx="182880" cy="514350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858000" y="0"/>
            <a:ext cx="2286000" cy="2560320"/>
          </a:xfrm>
          <a:prstGeom prst="rect">
            <a:avLst/>
          </a:prstGeom>
          <a:solidFill>
            <a:srgbClr val="0D7377">
              <a:alpha val="25098"/>
            </a:srgbClr>
          </a:solidFill>
          <a:ln cap="flat" cmpd="sng" w="12700">
            <a:solidFill>
              <a:srgbClr val="0D7377">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457200" y="365760"/>
            <a:ext cx="5486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DBD"/>
              </a:buClr>
              <a:buSzPts val="1400"/>
              <a:buFont typeface="Calibri"/>
              <a:buNone/>
            </a:pPr>
            <a:r>
              <a:rPr b="1" i="0" lang="en-US" sz="1400" u="none" cap="none" strike="noStrike">
                <a:solidFill>
                  <a:srgbClr val="14BDBD"/>
                </a:solidFill>
                <a:latin typeface="Calibri"/>
                <a:ea typeface="Calibri"/>
                <a:cs typeface="Calibri"/>
                <a:sym typeface="Calibri"/>
              </a:rPr>
              <a:t>MACIF</a:t>
            </a:r>
            <a:endParaRPr b="0" i="0" sz="1400" u="none" cap="none" strike="noStrike">
              <a:solidFill>
                <a:schemeClr val="dk1"/>
              </a:solidFill>
              <a:latin typeface="Calibri"/>
              <a:ea typeface="Calibri"/>
              <a:cs typeface="Calibri"/>
              <a:sym typeface="Calibri"/>
            </a:endParaRPr>
          </a:p>
        </p:txBody>
      </p:sp>
      <p:sp>
        <p:nvSpPr>
          <p:cNvPr id="19" name="Google Shape;19;p3"/>
          <p:cNvSpPr/>
          <p:nvPr/>
        </p:nvSpPr>
        <p:spPr>
          <a:xfrm>
            <a:off x="457200" y="914400"/>
            <a:ext cx="7315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Rapport de Stage</a:t>
            </a:r>
            <a:endParaRPr b="0" i="0" sz="4000" u="none" cap="none" strike="noStrike">
              <a:solidFill>
                <a:schemeClr val="dk1"/>
              </a:solidFill>
              <a:latin typeface="Calibri"/>
              <a:ea typeface="Calibri"/>
              <a:cs typeface="Calibri"/>
              <a:sym typeface="Calibri"/>
            </a:endParaRPr>
          </a:p>
        </p:txBody>
      </p:sp>
      <p:sp>
        <p:nvSpPr>
          <p:cNvPr id="20" name="Google Shape;20;p3"/>
          <p:cNvSpPr/>
          <p:nvPr/>
        </p:nvSpPr>
        <p:spPr>
          <a:xfrm>
            <a:off x="457200" y="182880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DBD"/>
              </a:buClr>
              <a:buSzPts val="1600"/>
              <a:buFont typeface="Calibri"/>
              <a:buNone/>
            </a:pPr>
            <a:r>
              <a:rPr b="0" i="0" lang="en-US" sz="1600" u="none" cap="none" strike="noStrike">
                <a:solidFill>
                  <a:srgbClr val="14BDBD"/>
                </a:solidFill>
                <a:latin typeface="Calibri"/>
                <a:ea typeface="Calibri"/>
                <a:cs typeface="Calibri"/>
                <a:sym typeface="Calibri"/>
              </a:rPr>
              <a:t>Support de Proximité — Service Informatique</a:t>
            </a:r>
            <a:endParaRPr b="0" i="0" sz="1600" u="none" cap="none" strike="noStrike">
              <a:solidFill>
                <a:schemeClr val="dk1"/>
              </a:solidFill>
              <a:latin typeface="Calibri"/>
              <a:ea typeface="Calibri"/>
              <a:cs typeface="Calibri"/>
              <a:sym typeface="Calibri"/>
            </a:endParaRPr>
          </a:p>
        </p:txBody>
      </p:sp>
      <p:sp>
        <p:nvSpPr>
          <p:cNvPr id="21" name="Google Shape;21;p3"/>
          <p:cNvSpPr/>
          <p:nvPr/>
        </p:nvSpPr>
        <p:spPr>
          <a:xfrm>
            <a:off x="457200" y="2377440"/>
            <a:ext cx="3657600" cy="36576"/>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457200" y="2514600"/>
            <a:ext cx="5486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Melvin Patel</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BTS SIO — Stagiaire 2 ans</a:t>
            </a:r>
            <a:endParaRPr b="0" i="0" sz="1400" u="none" cap="none" strike="noStrike">
              <a:solidFill>
                <a:schemeClr val="dk1"/>
              </a:solidFill>
              <a:latin typeface="Calibri"/>
              <a:ea typeface="Calibri"/>
              <a:cs typeface="Calibri"/>
              <a:sym typeface="Calibri"/>
            </a:endParaRPr>
          </a:p>
        </p:txBody>
      </p:sp>
      <p:sp>
        <p:nvSpPr>
          <p:cNvPr id="23" name="Google Shape;23;p3"/>
          <p:cNvSpPr/>
          <p:nvPr/>
        </p:nvSpPr>
        <p:spPr>
          <a:xfrm>
            <a:off x="457200" y="4114800"/>
            <a:ext cx="2560320" cy="640080"/>
          </a:xfrm>
          <a:prstGeom prst="rect">
            <a:avLst/>
          </a:prstGeom>
          <a:solidFill>
            <a:srgbClr val="FFFFFF">
              <a:alpha val="14901"/>
            </a:srgbClr>
          </a:solidFill>
          <a:ln cap="flat" cmpd="sng" w="12700">
            <a:solidFill>
              <a:srgbClr val="FFFF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457200" y="4114800"/>
            <a:ext cx="25603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Agen / Toulouse / Bordeaux</a:t>
            </a:r>
            <a:endParaRPr b="0" i="0" sz="1100" u="none" cap="none" strike="noStrike">
              <a:solidFill>
                <a:schemeClr val="dk1"/>
              </a:solidFill>
              <a:latin typeface="Calibri"/>
              <a:ea typeface="Calibri"/>
              <a:cs typeface="Calibri"/>
              <a:sym typeface="Calibri"/>
            </a:endParaRPr>
          </a:p>
        </p:txBody>
      </p:sp>
      <p:sp>
        <p:nvSpPr>
          <p:cNvPr id="25" name="Google Shape;25;p3"/>
          <p:cNvSpPr/>
          <p:nvPr/>
        </p:nvSpPr>
        <p:spPr>
          <a:xfrm>
            <a:off x="3291840" y="4114800"/>
            <a:ext cx="2560320" cy="640080"/>
          </a:xfrm>
          <a:prstGeom prst="rect">
            <a:avLst/>
          </a:prstGeom>
          <a:solidFill>
            <a:srgbClr val="FFFFFF">
              <a:alpha val="14901"/>
            </a:srgbClr>
          </a:solidFill>
          <a:ln cap="flat" cmpd="sng" w="12700">
            <a:solidFill>
              <a:srgbClr val="FFFF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3291840" y="4114800"/>
            <a:ext cx="25603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2024 — 2026</a:t>
            </a:r>
            <a:endParaRPr b="0" i="0" sz="1100" u="none" cap="none" strike="noStrike">
              <a:solidFill>
                <a:schemeClr val="dk1"/>
              </a:solidFill>
              <a:latin typeface="Calibri"/>
              <a:ea typeface="Calibri"/>
              <a:cs typeface="Calibri"/>
              <a:sym typeface="Calibri"/>
            </a:endParaRPr>
          </a:p>
        </p:txBody>
      </p:sp>
      <p:sp>
        <p:nvSpPr>
          <p:cNvPr id="27" name="Google Shape;27;p3"/>
          <p:cNvSpPr/>
          <p:nvPr/>
        </p:nvSpPr>
        <p:spPr>
          <a:xfrm>
            <a:off x="6126480" y="4114800"/>
            <a:ext cx="2560320" cy="640080"/>
          </a:xfrm>
          <a:prstGeom prst="rect">
            <a:avLst/>
          </a:prstGeom>
          <a:solidFill>
            <a:srgbClr val="FFFFFF">
              <a:alpha val="14901"/>
            </a:srgbClr>
          </a:solidFill>
          <a:ln cap="flat" cmpd="sng" w="12700">
            <a:solidFill>
              <a:srgbClr val="FFFF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6126480" y="4114800"/>
            <a:ext cx="25603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2ème Année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33" name="Shape 33"/>
        <p:cNvGrpSpPr/>
        <p:nvPr/>
      </p:nvGrpSpPr>
      <p:grpSpPr>
        <a:xfrm>
          <a:off x="0" y="0"/>
          <a:ext cx="0" cy="0"/>
          <a:chOff x="0" y="0"/>
          <a:chExt cx="0" cy="0"/>
        </a:xfrm>
      </p:grpSpPr>
      <p:sp>
        <p:nvSpPr>
          <p:cNvPr id="34" name="Google Shape;34;p4"/>
          <p:cNvSpPr/>
          <p:nvPr/>
        </p:nvSpPr>
        <p:spPr>
          <a:xfrm>
            <a:off x="0" y="0"/>
            <a:ext cx="9144000" cy="100584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Sommaire</a:t>
            </a:r>
            <a:endParaRPr b="0" i="0" sz="2800" u="none" cap="none" strike="noStrike">
              <a:solidFill>
                <a:schemeClr val="dk1"/>
              </a:solidFill>
              <a:latin typeface="Calibri"/>
              <a:ea typeface="Calibri"/>
              <a:cs typeface="Calibri"/>
              <a:sym typeface="Calibri"/>
            </a:endParaRPr>
          </a:p>
        </p:txBody>
      </p:sp>
      <p:sp>
        <p:nvSpPr>
          <p:cNvPr id="36" name="Google Shape;36;p4"/>
          <p:cNvSpPr/>
          <p:nvPr/>
        </p:nvSpPr>
        <p:spPr>
          <a:xfrm>
            <a:off x="457200" y="1280160"/>
            <a:ext cx="4023360" cy="155448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57200" y="1280160"/>
            <a:ext cx="73152" cy="155448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640080" y="1371600"/>
            <a:ext cx="731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377"/>
              </a:buClr>
              <a:buSzPts val="2400"/>
              <a:buFont typeface="Calibri"/>
              <a:buNone/>
            </a:pPr>
            <a:r>
              <a:rPr b="1" i="0" lang="en-US" sz="2400" u="none" cap="none" strike="noStrike">
                <a:solidFill>
                  <a:srgbClr val="0D7377"/>
                </a:solidFill>
                <a:latin typeface="Calibri"/>
                <a:ea typeface="Calibri"/>
                <a:cs typeface="Calibri"/>
                <a:sym typeface="Calibri"/>
              </a:rPr>
              <a:t>01</a:t>
            </a:r>
            <a:endParaRPr b="0" i="0" sz="2400" u="none" cap="none" strike="noStrike">
              <a:solidFill>
                <a:schemeClr val="dk1"/>
              </a:solidFill>
              <a:latin typeface="Calibri"/>
              <a:ea typeface="Calibri"/>
              <a:cs typeface="Calibri"/>
              <a:sym typeface="Calibri"/>
            </a:endParaRPr>
          </a:p>
        </p:txBody>
      </p:sp>
      <p:sp>
        <p:nvSpPr>
          <p:cNvPr id="39" name="Google Shape;39;p4"/>
          <p:cNvSpPr/>
          <p:nvPr/>
        </p:nvSpPr>
        <p:spPr>
          <a:xfrm>
            <a:off x="640080" y="182880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300"/>
              <a:buFont typeface="Calibri"/>
              <a:buNone/>
            </a:pPr>
            <a:r>
              <a:rPr b="1" i="0" lang="en-US" sz="1300" u="none" cap="none" strike="noStrike">
                <a:solidFill>
                  <a:srgbClr val="1A3A5C"/>
                </a:solidFill>
                <a:latin typeface="Calibri"/>
                <a:ea typeface="Calibri"/>
                <a:cs typeface="Calibri"/>
                <a:sym typeface="Calibri"/>
              </a:rPr>
              <a:t>Présentation de l'entreprise</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640080" y="224028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La MACIF, le service SDP, l'équipe</a:t>
            </a:r>
            <a:endParaRPr b="0" i="0" sz="1000" u="none" cap="none" strike="noStrike">
              <a:solidFill>
                <a:schemeClr val="dk1"/>
              </a:solidFill>
              <a:latin typeface="Calibri"/>
              <a:ea typeface="Calibri"/>
              <a:cs typeface="Calibri"/>
              <a:sym typeface="Calibri"/>
            </a:endParaRPr>
          </a:p>
        </p:txBody>
      </p:sp>
      <p:sp>
        <p:nvSpPr>
          <p:cNvPr id="41" name="Google Shape;41;p4"/>
          <p:cNvSpPr/>
          <p:nvPr/>
        </p:nvSpPr>
        <p:spPr>
          <a:xfrm>
            <a:off x="4846320" y="1280160"/>
            <a:ext cx="4023360" cy="155448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4846320" y="1280160"/>
            <a:ext cx="73152" cy="155448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5029200" y="1371600"/>
            <a:ext cx="731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2400"/>
              <a:buFont typeface="Calibri"/>
              <a:buNone/>
            </a:pPr>
            <a:r>
              <a:rPr b="1" i="0" lang="en-US" sz="2400" u="none" cap="none" strike="noStrike">
                <a:solidFill>
                  <a:srgbClr val="1A3A5C"/>
                </a:solidFill>
                <a:latin typeface="Calibri"/>
                <a:ea typeface="Calibri"/>
                <a:cs typeface="Calibri"/>
                <a:sym typeface="Calibri"/>
              </a:rPr>
              <a:t>02</a:t>
            </a:r>
            <a:endParaRPr b="0" i="0" sz="2400" u="none" cap="none" strike="noStrike">
              <a:solidFill>
                <a:schemeClr val="dk1"/>
              </a:solidFill>
              <a:latin typeface="Calibri"/>
              <a:ea typeface="Calibri"/>
              <a:cs typeface="Calibri"/>
              <a:sym typeface="Calibri"/>
            </a:endParaRPr>
          </a:p>
        </p:txBody>
      </p:sp>
      <p:sp>
        <p:nvSpPr>
          <p:cNvPr id="44" name="Google Shape;44;p4"/>
          <p:cNvSpPr/>
          <p:nvPr/>
        </p:nvSpPr>
        <p:spPr>
          <a:xfrm>
            <a:off x="5029200" y="182880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300"/>
              <a:buFont typeface="Calibri"/>
              <a:buNone/>
            </a:pPr>
            <a:r>
              <a:rPr b="1" i="0" lang="en-US" sz="1300" u="none" cap="none" strike="noStrike">
                <a:solidFill>
                  <a:srgbClr val="1A3A5C"/>
                </a:solidFill>
                <a:latin typeface="Calibri"/>
                <a:ea typeface="Calibri"/>
                <a:cs typeface="Calibri"/>
                <a:sym typeface="Calibri"/>
              </a:rPr>
              <a:t>1ère Année de Stage</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5029200" y="224028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Premières missions, réparations, changements PC</a:t>
            </a:r>
            <a:endParaRPr b="0" i="0" sz="1000" u="none" cap="none" strike="noStrike">
              <a:solidFill>
                <a:schemeClr val="dk1"/>
              </a:solidFill>
              <a:latin typeface="Calibri"/>
              <a:ea typeface="Calibri"/>
              <a:cs typeface="Calibri"/>
              <a:sym typeface="Calibri"/>
            </a:endParaRPr>
          </a:p>
        </p:txBody>
      </p:sp>
      <p:sp>
        <p:nvSpPr>
          <p:cNvPr id="46" name="Google Shape;46;p4"/>
          <p:cNvSpPr/>
          <p:nvPr/>
        </p:nvSpPr>
        <p:spPr>
          <a:xfrm>
            <a:off x="457200" y="3108960"/>
            <a:ext cx="4023360" cy="155448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457200" y="3108960"/>
            <a:ext cx="73152" cy="155448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640080" y="3200400"/>
            <a:ext cx="731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9E0B"/>
              </a:buClr>
              <a:buSzPts val="2400"/>
              <a:buFont typeface="Calibri"/>
              <a:buNone/>
            </a:pPr>
            <a:r>
              <a:rPr b="1" i="0" lang="en-US" sz="2400" u="none" cap="none" strike="noStrike">
                <a:solidFill>
                  <a:srgbClr val="F59E0B"/>
                </a:solidFill>
                <a:latin typeface="Calibri"/>
                <a:ea typeface="Calibri"/>
                <a:cs typeface="Calibri"/>
                <a:sym typeface="Calibri"/>
              </a:rPr>
              <a:t>03</a:t>
            </a:r>
            <a:endParaRPr b="0" i="0" sz="2400" u="none" cap="none" strike="noStrike">
              <a:solidFill>
                <a:schemeClr val="dk1"/>
              </a:solidFill>
              <a:latin typeface="Calibri"/>
              <a:ea typeface="Calibri"/>
              <a:cs typeface="Calibri"/>
              <a:sym typeface="Calibri"/>
            </a:endParaRPr>
          </a:p>
        </p:txBody>
      </p:sp>
      <p:sp>
        <p:nvSpPr>
          <p:cNvPr id="49" name="Google Shape;49;p4"/>
          <p:cNvSpPr/>
          <p:nvPr/>
        </p:nvSpPr>
        <p:spPr>
          <a:xfrm>
            <a:off x="640080" y="365760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300"/>
              <a:buFont typeface="Calibri"/>
              <a:buNone/>
            </a:pPr>
            <a:r>
              <a:rPr b="1" i="0" lang="en-US" sz="1300" u="none" cap="none" strike="noStrike">
                <a:solidFill>
                  <a:srgbClr val="1A3A5C"/>
                </a:solidFill>
                <a:latin typeface="Calibri"/>
                <a:ea typeface="Calibri"/>
                <a:cs typeface="Calibri"/>
                <a:sym typeface="Calibri"/>
              </a:rPr>
              <a:t>2ème Année de Stage</a:t>
            </a:r>
            <a:endParaRPr b="0" i="0" sz="1300" u="none" cap="none" strike="noStrike">
              <a:solidFill>
                <a:schemeClr val="dk1"/>
              </a:solidFill>
              <a:latin typeface="Calibri"/>
              <a:ea typeface="Calibri"/>
              <a:cs typeface="Calibri"/>
              <a:sym typeface="Calibri"/>
            </a:endParaRPr>
          </a:p>
        </p:txBody>
      </p:sp>
      <p:sp>
        <p:nvSpPr>
          <p:cNvPr id="50" name="Google Shape;50;p4"/>
          <p:cNvSpPr/>
          <p:nvPr/>
        </p:nvSpPr>
        <p:spPr>
          <a:xfrm>
            <a:off x="640080" y="406908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Projets T590/T15, déplacements, missions avancées</a:t>
            </a:r>
            <a:endParaRPr b="0" i="0" sz="1000" u="none" cap="none" strike="noStrike">
              <a:solidFill>
                <a:schemeClr val="dk1"/>
              </a:solidFill>
              <a:latin typeface="Calibri"/>
              <a:ea typeface="Calibri"/>
              <a:cs typeface="Calibri"/>
              <a:sym typeface="Calibri"/>
            </a:endParaRPr>
          </a:p>
        </p:txBody>
      </p:sp>
      <p:sp>
        <p:nvSpPr>
          <p:cNvPr id="51" name="Google Shape;51;p4"/>
          <p:cNvSpPr/>
          <p:nvPr/>
        </p:nvSpPr>
        <p:spPr>
          <a:xfrm>
            <a:off x="4846320" y="3108960"/>
            <a:ext cx="4023360" cy="155448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4846320" y="3108960"/>
            <a:ext cx="73152" cy="155448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5029200" y="3200400"/>
            <a:ext cx="731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5CF6"/>
              </a:buClr>
              <a:buSzPts val="2400"/>
              <a:buFont typeface="Calibri"/>
              <a:buNone/>
            </a:pPr>
            <a:r>
              <a:rPr b="1" i="0" lang="en-US" sz="2400" u="none" cap="none" strike="noStrike">
                <a:solidFill>
                  <a:srgbClr val="8B5CF6"/>
                </a:solidFill>
                <a:latin typeface="Calibri"/>
                <a:ea typeface="Calibri"/>
                <a:cs typeface="Calibri"/>
                <a:sym typeface="Calibri"/>
              </a:rPr>
              <a:t>04</a:t>
            </a:r>
            <a:endParaRPr b="0" i="0" sz="2400" u="none" cap="none" strike="noStrike">
              <a:solidFill>
                <a:schemeClr val="dk1"/>
              </a:solidFill>
              <a:latin typeface="Calibri"/>
              <a:ea typeface="Calibri"/>
              <a:cs typeface="Calibri"/>
              <a:sym typeface="Calibri"/>
            </a:endParaRPr>
          </a:p>
        </p:txBody>
      </p:sp>
      <p:sp>
        <p:nvSpPr>
          <p:cNvPr id="54" name="Google Shape;54;p4"/>
          <p:cNvSpPr/>
          <p:nvPr/>
        </p:nvSpPr>
        <p:spPr>
          <a:xfrm>
            <a:off x="5029200" y="365760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300"/>
              <a:buFont typeface="Calibri"/>
              <a:buNone/>
            </a:pPr>
            <a:r>
              <a:rPr b="1" i="0" lang="en-US" sz="1300" u="none" cap="none" strike="noStrike">
                <a:solidFill>
                  <a:srgbClr val="1A3A5C"/>
                </a:solidFill>
                <a:latin typeface="Calibri"/>
                <a:ea typeface="Calibri"/>
                <a:cs typeface="Calibri"/>
                <a:sym typeface="Calibri"/>
              </a:rPr>
              <a:t>Bilan &amp; Compétences</a:t>
            </a:r>
            <a:endParaRPr b="0" i="0" sz="1300" u="none" cap="none" strike="noStrike">
              <a:solidFill>
                <a:schemeClr val="dk1"/>
              </a:solidFill>
              <a:latin typeface="Calibri"/>
              <a:ea typeface="Calibri"/>
              <a:cs typeface="Calibri"/>
              <a:sym typeface="Calibri"/>
            </a:endParaRPr>
          </a:p>
        </p:txBody>
      </p:sp>
      <p:sp>
        <p:nvSpPr>
          <p:cNvPr id="55" name="Google Shape;55;p4"/>
          <p:cNvSpPr/>
          <p:nvPr/>
        </p:nvSpPr>
        <p:spPr>
          <a:xfrm>
            <a:off x="5029200" y="406908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Apprentissages, évolution, conclusion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60" name="Shape 60"/>
        <p:cNvGrpSpPr/>
        <p:nvPr/>
      </p:nvGrpSpPr>
      <p:grpSpPr>
        <a:xfrm>
          <a:off x="0" y="0"/>
          <a:ext cx="0" cy="0"/>
          <a:chOff x="0" y="0"/>
          <a:chExt cx="0" cy="0"/>
        </a:xfrm>
      </p:grpSpPr>
      <p:sp>
        <p:nvSpPr>
          <p:cNvPr id="61" name="Google Shape;61;p5"/>
          <p:cNvSpPr/>
          <p:nvPr/>
        </p:nvSpPr>
        <p:spPr>
          <a:xfrm>
            <a:off x="0" y="0"/>
            <a:ext cx="9144000" cy="100584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01 — Présentation de l'entreprise</a:t>
            </a:r>
            <a:endParaRPr b="0" i="0" sz="2200" u="none" cap="none" strike="noStrike">
              <a:solidFill>
                <a:schemeClr val="dk1"/>
              </a:solidFill>
              <a:latin typeface="Calibri"/>
              <a:ea typeface="Calibri"/>
              <a:cs typeface="Calibri"/>
              <a:sym typeface="Calibri"/>
            </a:endParaRPr>
          </a:p>
        </p:txBody>
      </p:sp>
      <p:sp>
        <p:nvSpPr>
          <p:cNvPr id="63" name="Google Shape;63;p5"/>
          <p:cNvSpPr/>
          <p:nvPr/>
        </p:nvSpPr>
        <p:spPr>
          <a:xfrm>
            <a:off x="365760" y="1143000"/>
            <a:ext cx="5120640" cy="365760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548640" y="1234440"/>
            <a:ext cx="47548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600"/>
              <a:buFont typeface="Calibri"/>
              <a:buNone/>
            </a:pPr>
            <a:r>
              <a:rPr b="1" i="0" lang="en-US" sz="1600" u="none" cap="none" strike="noStrike">
                <a:solidFill>
                  <a:srgbClr val="1A3A5C"/>
                </a:solidFill>
                <a:latin typeface="Calibri"/>
                <a:ea typeface="Calibri"/>
                <a:cs typeface="Calibri"/>
                <a:sym typeface="Calibri"/>
              </a:rPr>
              <a:t>La MACIF</a:t>
            </a:r>
            <a:endParaRPr b="0" i="0" sz="1600" u="none" cap="none" strike="noStrike">
              <a:solidFill>
                <a:schemeClr val="dk1"/>
              </a:solidFill>
              <a:latin typeface="Calibri"/>
              <a:ea typeface="Calibri"/>
              <a:cs typeface="Calibri"/>
              <a:sym typeface="Calibri"/>
            </a:endParaRPr>
          </a:p>
        </p:txBody>
      </p:sp>
      <p:sp>
        <p:nvSpPr>
          <p:cNvPr id="65" name="Google Shape;65;p5"/>
          <p:cNvSpPr/>
          <p:nvPr/>
        </p:nvSpPr>
        <p:spPr>
          <a:xfrm>
            <a:off x="548640" y="1691640"/>
            <a:ext cx="4754880" cy="28346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Mutuelle d'Assurance des Commerçants et Industriels de France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Fondée en 1960, groupe mutualiste sans actionnaires</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Assurance auto, habitation, santé, prévoyance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Plus de 5 millions de sociétaires en France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200"/>
              <a:buFont typeface="Calibri"/>
              <a:buChar char="•"/>
            </a:pPr>
            <a:r>
              <a:rPr b="0" i="0" lang="en-US" sz="1200" u="none" cap="none" strike="noStrike">
                <a:solidFill>
                  <a:srgbClr val="334155"/>
                </a:solidFill>
                <a:latin typeface="Calibri"/>
                <a:ea typeface="Calibri"/>
                <a:cs typeface="Calibri"/>
                <a:sym typeface="Calibri"/>
              </a:rPr>
              <a:t>Sites présents : Agen, Toulouse, Bordeaux, Mérignac, Bergerac, Moissac...</a:t>
            </a:r>
            <a:endParaRPr b="0" i="0" sz="1200" u="none" cap="none" strike="noStrike">
              <a:solidFill>
                <a:schemeClr val="dk1"/>
              </a:solidFill>
              <a:latin typeface="Calibri"/>
              <a:ea typeface="Calibri"/>
              <a:cs typeface="Calibri"/>
              <a:sym typeface="Calibri"/>
            </a:endParaRPr>
          </a:p>
        </p:txBody>
      </p:sp>
      <p:sp>
        <p:nvSpPr>
          <p:cNvPr id="66" name="Google Shape;66;p5"/>
          <p:cNvSpPr/>
          <p:nvPr/>
        </p:nvSpPr>
        <p:spPr>
          <a:xfrm>
            <a:off x="5669280" y="1143000"/>
            <a:ext cx="3108960" cy="1645920"/>
          </a:xfrm>
          <a:prstGeom prst="rect">
            <a:avLst/>
          </a:prstGeom>
          <a:solidFill>
            <a:srgbClr val="1A3A5C"/>
          </a:solidFill>
          <a:ln cap="flat" cmpd="sng" w="12700">
            <a:solidFill>
              <a:srgbClr val="1A3A5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5760720" y="1234440"/>
            <a:ext cx="29260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DBD"/>
              </a:buClr>
              <a:buSzPts val="1300"/>
              <a:buFont typeface="Calibri"/>
              <a:buNone/>
            </a:pPr>
            <a:r>
              <a:rPr b="1" i="0" lang="en-US" sz="1300" u="none" cap="none" strike="noStrike">
                <a:solidFill>
                  <a:srgbClr val="14BDBD"/>
                </a:solidFill>
                <a:latin typeface="Calibri"/>
                <a:ea typeface="Calibri"/>
                <a:cs typeface="Calibri"/>
                <a:sym typeface="Calibri"/>
              </a:rPr>
              <a:t>Service SDP</a:t>
            </a:r>
            <a:endParaRPr b="0" i="0" sz="1300" u="none" cap="none" strike="noStrike">
              <a:solidFill>
                <a:schemeClr val="dk1"/>
              </a:solidFill>
              <a:latin typeface="Calibri"/>
              <a:ea typeface="Calibri"/>
              <a:cs typeface="Calibri"/>
              <a:sym typeface="Calibri"/>
            </a:endParaRPr>
          </a:p>
        </p:txBody>
      </p:sp>
      <p:sp>
        <p:nvSpPr>
          <p:cNvPr id="68" name="Google Shape;68;p5"/>
          <p:cNvSpPr/>
          <p:nvPr/>
        </p:nvSpPr>
        <p:spPr>
          <a:xfrm>
            <a:off x="5760720" y="1645920"/>
            <a:ext cx="29260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Support de Proximité</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(ex-AsUr)</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Support terrain IT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Réunion RO : mardi</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Réunion équipe : lundi/vendredi</a:t>
            </a:r>
            <a:endParaRPr b="0" i="0" sz="1000" u="none" cap="none" strike="noStrike">
              <a:solidFill>
                <a:schemeClr val="dk1"/>
              </a:solidFill>
              <a:latin typeface="Calibri"/>
              <a:ea typeface="Calibri"/>
              <a:cs typeface="Calibri"/>
              <a:sym typeface="Calibri"/>
            </a:endParaRPr>
          </a:p>
        </p:txBody>
      </p:sp>
      <p:sp>
        <p:nvSpPr>
          <p:cNvPr id="69" name="Google Shape;69;p5"/>
          <p:cNvSpPr/>
          <p:nvPr/>
        </p:nvSpPr>
        <p:spPr>
          <a:xfrm>
            <a:off x="5669280" y="2926080"/>
            <a:ext cx="3108960" cy="187452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5760720" y="3017520"/>
            <a:ext cx="29260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200"/>
              <a:buFont typeface="Calibri"/>
              <a:buNone/>
            </a:pPr>
            <a:r>
              <a:rPr b="1" i="0" lang="en-US" sz="1200" u="none" cap="none" strike="noStrike">
                <a:solidFill>
                  <a:srgbClr val="1A3A5C"/>
                </a:solidFill>
                <a:latin typeface="Calibri"/>
                <a:ea typeface="Calibri"/>
                <a:cs typeface="Calibri"/>
                <a:sym typeface="Calibri"/>
              </a:rPr>
              <a:t>Outils utilisés</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5760720" y="3383280"/>
            <a:ext cx="2926080" cy="12801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EasyVista (tickets)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SCCM (déploiement)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Usercube / AD (habilitations)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Émulateur (profils)</a:t>
            </a:r>
            <a:endParaRPr b="0" i="0" sz="1000" u="none" cap="none" strike="noStrike">
              <a:solidFill>
                <a:schemeClr val="dk1"/>
              </a:solidFill>
              <a:latin typeface="Calibri"/>
              <a:ea typeface="Calibri"/>
              <a:cs typeface="Calibri"/>
              <a:sym typeface="Calibri"/>
            </a:endParaRPr>
          </a:p>
        </p:txBody>
      </p:sp>
      <p:sp>
        <p:nvSpPr>
          <p:cNvPr id="72" name="Google Shape;72;p5"/>
          <p:cNvSpPr/>
          <p:nvPr/>
        </p:nvSpPr>
        <p:spPr>
          <a:xfrm>
            <a:off x="457200" y="4754880"/>
            <a:ext cx="2011680" cy="274320"/>
          </a:xfrm>
          <a:prstGeom prst="roundRect">
            <a:avLst>
              <a:gd fmla="val 16667" name="adj"/>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45720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Présentation</a:t>
            </a:r>
            <a:endParaRPr b="0" i="0" sz="800" u="none" cap="none" strike="noStrike">
              <a:solidFill>
                <a:schemeClr val="dk1"/>
              </a:solidFill>
              <a:latin typeface="Calibri"/>
              <a:ea typeface="Calibri"/>
              <a:cs typeface="Calibri"/>
              <a:sym typeface="Calibri"/>
            </a:endParaRPr>
          </a:p>
        </p:txBody>
      </p:sp>
      <p:sp>
        <p:nvSpPr>
          <p:cNvPr id="74" name="Google Shape;74;p5"/>
          <p:cNvSpPr/>
          <p:nvPr/>
        </p:nvSpPr>
        <p:spPr>
          <a:xfrm>
            <a:off x="256032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256032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1ère Année</a:t>
            </a:r>
            <a:endParaRPr b="0" i="0" sz="800" u="none" cap="none" strike="noStrike">
              <a:solidFill>
                <a:schemeClr val="dk1"/>
              </a:solidFill>
              <a:latin typeface="Calibri"/>
              <a:ea typeface="Calibri"/>
              <a:cs typeface="Calibri"/>
              <a:sym typeface="Calibri"/>
            </a:endParaRPr>
          </a:p>
        </p:txBody>
      </p:sp>
      <p:sp>
        <p:nvSpPr>
          <p:cNvPr id="76" name="Google Shape;76;p5"/>
          <p:cNvSpPr/>
          <p:nvPr/>
        </p:nvSpPr>
        <p:spPr>
          <a:xfrm>
            <a:off x="466344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466344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2ème Année</a:t>
            </a:r>
            <a:endParaRPr b="0" i="0" sz="800" u="none" cap="none" strike="noStrike">
              <a:solidFill>
                <a:schemeClr val="dk1"/>
              </a:solidFill>
              <a:latin typeface="Calibri"/>
              <a:ea typeface="Calibri"/>
              <a:cs typeface="Calibri"/>
              <a:sym typeface="Calibri"/>
            </a:endParaRPr>
          </a:p>
        </p:txBody>
      </p:sp>
      <p:sp>
        <p:nvSpPr>
          <p:cNvPr id="78" name="Google Shape;78;p5"/>
          <p:cNvSpPr/>
          <p:nvPr/>
        </p:nvSpPr>
        <p:spPr>
          <a:xfrm>
            <a:off x="676656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676656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Bilan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84" name="Shape 84"/>
        <p:cNvGrpSpPr/>
        <p:nvPr/>
      </p:nvGrpSpPr>
      <p:grpSpPr>
        <a:xfrm>
          <a:off x="0" y="0"/>
          <a:ext cx="0" cy="0"/>
          <a:chOff x="0" y="0"/>
          <a:chExt cx="0" cy="0"/>
        </a:xfrm>
      </p:grpSpPr>
      <p:sp>
        <p:nvSpPr>
          <p:cNvPr id="85" name="Google Shape;85;p6"/>
          <p:cNvSpPr/>
          <p:nvPr/>
        </p:nvSpPr>
        <p:spPr>
          <a:xfrm>
            <a:off x="0" y="0"/>
            <a:ext cx="9144000" cy="100584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02 — 1ère Année : Missions principales</a:t>
            </a:r>
            <a:endParaRPr b="0" i="0" sz="2200" u="none" cap="none" strike="noStrike">
              <a:solidFill>
                <a:schemeClr val="dk1"/>
              </a:solidFill>
              <a:latin typeface="Calibri"/>
              <a:ea typeface="Calibri"/>
              <a:cs typeface="Calibri"/>
              <a:sym typeface="Calibri"/>
            </a:endParaRPr>
          </a:p>
        </p:txBody>
      </p:sp>
      <p:sp>
        <p:nvSpPr>
          <p:cNvPr id="87" name="Google Shape;87;p6"/>
          <p:cNvSpPr/>
          <p:nvPr/>
        </p:nvSpPr>
        <p:spPr>
          <a:xfrm>
            <a:off x="365760" y="1143000"/>
            <a:ext cx="274320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365760" y="1143000"/>
            <a:ext cx="2743200" cy="50292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365760" y="1143000"/>
            <a:ext cx="27432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Préparation de poste</a:t>
            </a:r>
            <a:endParaRPr b="0" i="0" sz="1200" u="none" cap="none" strike="noStrike">
              <a:solidFill>
                <a:schemeClr val="dk1"/>
              </a:solidFill>
              <a:latin typeface="Calibri"/>
              <a:ea typeface="Calibri"/>
              <a:cs typeface="Calibri"/>
              <a:sym typeface="Calibri"/>
            </a:endParaRPr>
          </a:p>
        </p:txBody>
      </p:sp>
      <p:sp>
        <p:nvSpPr>
          <p:cNvPr id="90" name="Google Shape;90;p6"/>
          <p:cNvSpPr/>
          <p:nvPr/>
        </p:nvSpPr>
        <p:spPr>
          <a:xfrm>
            <a:off x="457200" y="1691640"/>
            <a:ext cx="2560320"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Log avec matricule</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Vérification du capot et mise en veille</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Raccourcis dans la barre des tâches (accès distant, PingID, SWSSO)</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Paramétrage Chrome au démarrage sur mbv.macif.fr</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Mises à jour Vantage</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Connexion compte Google + PingID (enrôlement)</a:t>
            </a:r>
            <a:endParaRPr b="0" i="0" sz="950" u="none" cap="none" strike="noStrike">
              <a:solidFill>
                <a:schemeClr val="dk1"/>
              </a:solidFill>
              <a:latin typeface="Calibri"/>
              <a:ea typeface="Calibri"/>
              <a:cs typeface="Calibri"/>
              <a:sym typeface="Calibri"/>
            </a:endParaRPr>
          </a:p>
        </p:txBody>
      </p:sp>
      <p:sp>
        <p:nvSpPr>
          <p:cNvPr id="91" name="Google Shape;91;p6"/>
          <p:cNvSpPr/>
          <p:nvPr/>
        </p:nvSpPr>
        <p:spPr>
          <a:xfrm>
            <a:off x="3200400" y="1143000"/>
            <a:ext cx="274320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3200400" y="1143000"/>
            <a:ext cx="2743200" cy="50292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3200400" y="1143000"/>
            <a:ext cx="27432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Boot &amp; Reconstruction PC</a:t>
            </a:r>
            <a:endParaRPr b="0" i="0" sz="1200" u="none" cap="none" strike="noStrike">
              <a:solidFill>
                <a:schemeClr val="dk1"/>
              </a:solidFill>
              <a:latin typeface="Calibri"/>
              <a:ea typeface="Calibri"/>
              <a:cs typeface="Calibri"/>
              <a:sym typeface="Calibri"/>
            </a:endParaRPr>
          </a:p>
        </p:txBody>
      </p:sp>
      <p:sp>
        <p:nvSpPr>
          <p:cNvPr id="94" name="Google Shape;94;p6"/>
          <p:cNvSpPr/>
          <p:nvPr/>
        </p:nvSpPr>
        <p:spPr>
          <a:xfrm>
            <a:off x="3291840" y="1691640"/>
            <a:ext cx="2560320"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Import Device (code bar + MAC adresse)</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Connexion serveur NAT</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Boot via F12 + mot de passe</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Reconstruction avec clé bootable</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Vérification SCCM</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Finalisation et remise en stock</a:t>
            </a:r>
            <a:endParaRPr b="0" i="0" sz="950" u="none" cap="none" strike="noStrike">
              <a:solidFill>
                <a:schemeClr val="dk1"/>
              </a:solidFill>
              <a:latin typeface="Calibri"/>
              <a:ea typeface="Calibri"/>
              <a:cs typeface="Calibri"/>
              <a:sym typeface="Calibri"/>
            </a:endParaRPr>
          </a:p>
        </p:txBody>
      </p:sp>
      <p:sp>
        <p:nvSpPr>
          <p:cNvPr id="95" name="Google Shape;95;p6"/>
          <p:cNvSpPr/>
          <p:nvPr/>
        </p:nvSpPr>
        <p:spPr>
          <a:xfrm>
            <a:off x="6035040" y="1143000"/>
            <a:ext cx="274320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6035040" y="1143000"/>
            <a:ext cx="2743200" cy="50292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6035040" y="1143000"/>
            <a:ext cx="27432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Réparation matériel</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6126480" y="1691640"/>
            <a:ext cx="2560320"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Réparation d'écran (câble USB-C, ports DP)</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Vérification daisy chain ON/OFF</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Changement de casque (avec/sans fil)</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Mise à jour sur EasyVista</a:t>
            </a:r>
            <a:endParaRPr b="0" i="0" sz="9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Résolution problèmes clavier filaire/sans fil</a:t>
            </a:r>
            <a:endParaRPr b="0" i="0" sz="950" u="none" cap="none" strike="noStrike">
              <a:solidFill>
                <a:schemeClr val="dk1"/>
              </a:solidFill>
              <a:latin typeface="Calibri"/>
              <a:ea typeface="Calibri"/>
              <a:cs typeface="Calibri"/>
              <a:sym typeface="Calibri"/>
            </a:endParaRPr>
          </a:p>
        </p:txBody>
      </p:sp>
      <p:sp>
        <p:nvSpPr>
          <p:cNvPr id="99" name="Google Shape;99;p6"/>
          <p:cNvSpPr/>
          <p:nvPr/>
        </p:nvSpPr>
        <p:spPr>
          <a:xfrm>
            <a:off x="45720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45720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Présentation</a:t>
            </a:r>
            <a:endParaRPr b="0" i="0" sz="800" u="none" cap="none" strike="noStrike">
              <a:solidFill>
                <a:schemeClr val="dk1"/>
              </a:solidFill>
              <a:latin typeface="Calibri"/>
              <a:ea typeface="Calibri"/>
              <a:cs typeface="Calibri"/>
              <a:sym typeface="Calibri"/>
            </a:endParaRPr>
          </a:p>
        </p:txBody>
      </p:sp>
      <p:sp>
        <p:nvSpPr>
          <p:cNvPr id="101" name="Google Shape;101;p6"/>
          <p:cNvSpPr/>
          <p:nvPr/>
        </p:nvSpPr>
        <p:spPr>
          <a:xfrm>
            <a:off x="2560320" y="4754880"/>
            <a:ext cx="2011680" cy="274320"/>
          </a:xfrm>
          <a:prstGeom prst="roundRect">
            <a:avLst>
              <a:gd fmla="val 16667" name="adj"/>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256032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1ère Année</a:t>
            </a:r>
            <a:endParaRPr b="0" i="0" sz="800" u="none" cap="none" strike="noStrike">
              <a:solidFill>
                <a:schemeClr val="dk1"/>
              </a:solidFill>
              <a:latin typeface="Calibri"/>
              <a:ea typeface="Calibri"/>
              <a:cs typeface="Calibri"/>
              <a:sym typeface="Calibri"/>
            </a:endParaRPr>
          </a:p>
        </p:txBody>
      </p:sp>
      <p:sp>
        <p:nvSpPr>
          <p:cNvPr id="103" name="Google Shape;103;p6"/>
          <p:cNvSpPr/>
          <p:nvPr/>
        </p:nvSpPr>
        <p:spPr>
          <a:xfrm>
            <a:off x="466344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466344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2ème Année</a:t>
            </a:r>
            <a:endParaRPr b="0" i="0" sz="800" u="none" cap="none" strike="noStrike">
              <a:solidFill>
                <a:schemeClr val="dk1"/>
              </a:solidFill>
              <a:latin typeface="Calibri"/>
              <a:ea typeface="Calibri"/>
              <a:cs typeface="Calibri"/>
              <a:sym typeface="Calibri"/>
            </a:endParaRPr>
          </a:p>
        </p:txBody>
      </p:sp>
      <p:sp>
        <p:nvSpPr>
          <p:cNvPr id="105" name="Google Shape;105;p6"/>
          <p:cNvSpPr/>
          <p:nvPr/>
        </p:nvSpPr>
        <p:spPr>
          <a:xfrm>
            <a:off x="676656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676656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Bilan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111" name="Shape 111"/>
        <p:cNvGrpSpPr/>
        <p:nvPr/>
      </p:nvGrpSpPr>
      <p:grpSpPr>
        <a:xfrm>
          <a:off x="0" y="0"/>
          <a:ext cx="0" cy="0"/>
          <a:chOff x="0" y="0"/>
          <a:chExt cx="0" cy="0"/>
        </a:xfrm>
      </p:grpSpPr>
      <p:sp>
        <p:nvSpPr>
          <p:cNvPr id="112" name="Google Shape;112;p7"/>
          <p:cNvSpPr/>
          <p:nvPr/>
        </p:nvSpPr>
        <p:spPr>
          <a:xfrm>
            <a:off x="0" y="0"/>
            <a:ext cx="9144000" cy="100584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03 — 2ème Année : Habilitations des utilisateurs</a:t>
            </a:r>
            <a:endParaRPr b="0" i="0" sz="2200" u="none" cap="none" strike="noStrike">
              <a:solidFill>
                <a:schemeClr val="dk1"/>
              </a:solidFill>
              <a:latin typeface="Calibri"/>
              <a:ea typeface="Calibri"/>
              <a:cs typeface="Calibri"/>
              <a:sym typeface="Calibri"/>
            </a:endParaRPr>
          </a:p>
        </p:txBody>
      </p:sp>
      <p:sp>
        <p:nvSpPr>
          <p:cNvPr id="114" name="Google Shape;114;p7"/>
          <p:cNvSpPr/>
          <p:nvPr/>
        </p:nvSpPr>
        <p:spPr>
          <a:xfrm>
            <a:off x="365760" y="1143000"/>
            <a:ext cx="484632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548640" y="123444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400"/>
              <a:buFont typeface="Calibri"/>
              <a:buNone/>
            </a:pPr>
            <a:r>
              <a:rPr b="1" i="0" lang="en-US" sz="1400" u="none" cap="none" strike="noStrike">
                <a:solidFill>
                  <a:srgbClr val="1A3A5C"/>
                </a:solidFill>
                <a:latin typeface="Calibri"/>
                <a:ea typeface="Calibri"/>
                <a:cs typeface="Calibri"/>
                <a:sym typeface="Calibri"/>
              </a:rPr>
              <a:t>Processus d'habilitation</a:t>
            </a:r>
            <a:endParaRPr b="0" i="0" sz="1400" u="none" cap="none" strike="noStrike">
              <a:solidFill>
                <a:schemeClr val="dk1"/>
              </a:solidFill>
              <a:latin typeface="Calibri"/>
              <a:ea typeface="Calibri"/>
              <a:cs typeface="Calibri"/>
              <a:sym typeface="Calibri"/>
            </a:endParaRPr>
          </a:p>
        </p:txBody>
      </p:sp>
      <p:sp>
        <p:nvSpPr>
          <p:cNvPr id="116" name="Google Shape;116;p7"/>
          <p:cNvSpPr/>
          <p:nvPr/>
        </p:nvSpPr>
        <p:spPr>
          <a:xfrm>
            <a:off x="548640" y="1691640"/>
            <a:ext cx="4572000" cy="3017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1. Ticket → Vérifier toutes les informations et trouver un profil similaire dans l'organigramme</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2. Remplir le tableau Excel (tickets, nom, prénom, matricule…)</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3. Usercube Collab X2 → matricule sans la 1ère lettre</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4. Émulateur : commande CABON (lecture profil) puis EABON (modification)</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5. Modifier groupe, site de travail, site G2A selon le profil similaire</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6. CDS Macif → supprimer | PPROS → Gestion provenance abonné N→O</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7. ENVR (plafond remboursement) + ENIVV (plafond paiement)</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8. AD : copier les attributs utilisateur | Nouveau arrivant : décocher MDR connexion</a:t>
            </a:r>
            <a:endParaRPr b="0" i="0" sz="90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334155"/>
              </a:buClr>
              <a:buSzPts val="900"/>
              <a:buFont typeface="Calibri"/>
              <a:buNone/>
            </a:pPr>
            <a:r>
              <a:rPr b="0" i="0" lang="en-US" sz="900" u="none" cap="none" strike="noStrike">
                <a:solidFill>
                  <a:srgbClr val="334155"/>
                </a:solidFill>
                <a:latin typeface="Calibri"/>
                <a:ea typeface="Calibri"/>
                <a:cs typeface="Calibri"/>
                <a:sym typeface="Calibri"/>
              </a:rPr>
              <a:t>9. Mot de passe par défaut : M-cif(matricule)M-cif(matricule)</a:t>
            </a:r>
            <a:endParaRPr b="0" i="0" sz="900" u="none" cap="none" strike="noStrike">
              <a:solidFill>
                <a:schemeClr val="dk1"/>
              </a:solidFill>
              <a:latin typeface="Calibri"/>
              <a:ea typeface="Calibri"/>
              <a:cs typeface="Calibri"/>
              <a:sym typeface="Calibri"/>
            </a:endParaRPr>
          </a:p>
        </p:txBody>
      </p:sp>
      <p:sp>
        <p:nvSpPr>
          <p:cNvPr id="117" name="Google Shape;117;p7"/>
          <p:cNvSpPr/>
          <p:nvPr/>
        </p:nvSpPr>
        <p:spPr>
          <a:xfrm>
            <a:off x="5394960" y="1143000"/>
            <a:ext cx="347472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5394960" y="1143000"/>
            <a:ext cx="347472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Capture : Interface Usercube (habilitation)</a:t>
            </a:r>
            <a:endParaRPr b="0" i="0" sz="900" u="none" cap="none" strike="noStrike">
              <a:solidFill>
                <a:schemeClr val="dk1"/>
              </a:solidFill>
              <a:latin typeface="Calibri"/>
              <a:ea typeface="Calibri"/>
              <a:cs typeface="Calibri"/>
              <a:sym typeface="Calibri"/>
            </a:endParaRPr>
          </a:p>
        </p:txBody>
      </p:sp>
      <p:pic>
        <p:nvPicPr>
          <p:cNvPr descr="preencoded.png" id="119" name="Google Shape;119;p7"/>
          <p:cNvPicPr preferRelativeResize="0"/>
          <p:nvPr/>
        </p:nvPicPr>
        <p:blipFill rotWithShape="1">
          <a:blip r:embed="rId3">
            <a:alphaModFix/>
          </a:blip>
          <a:srcRect b="0" l="0" r="0" t="0"/>
          <a:stretch/>
        </p:blipFill>
        <p:spPr>
          <a:xfrm>
            <a:off x="5440680" y="1508760"/>
            <a:ext cx="3383280" cy="3246120"/>
          </a:xfrm>
          <a:prstGeom prst="rect">
            <a:avLst/>
          </a:prstGeom>
          <a:noFill/>
          <a:ln>
            <a:noFill/>
          </a:ln>
        </p:spPr>
      </p:pic>
      <p:sp>
        <p:nvSpPr>
          <p:cNvPr id="120" name="Google Shape;120;p7"/>
          <p:cNvSpPr/>
          <p:nvPr/>
        </p:nvSpPr>
        <p:spPr>
          <a:xfrm>
            <a:off x="457200" y="4754880"/>
            <a:ext cx="2011680" cy="274320"/>
          </a:xfrm>
          <a:prstGeom prst="roundRect">
            <a:avLst>
              <a:gd fmla="val 16667" name="adj"/>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45720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Présentation</a:t>
            </a:r>
            <a:endParaRPr b="0" i="0" sz="800" u="none" cap="none" strike="noStrike">
              <a:solidFill>
                <a:schemeClr val="dk1"/>
              </a:solidFill>
              <a:latin typeface="Calibri"/>
              <a:ea typeface="Calibri"/>
              <a:cs typeface="Calibri"/>
              <a:sym typeface="Calibri"/>
            </a:endParaRPr>
          </a:p>
        </p:txBody>
      </p:sp>
      <p:sp>
        <p:nvSpPr>
          <p:cNvPr id="122" name="Google Shape;122;p7"/>
          <p:cNvSpPr/>
          <p:nvPr/>
        </p:nvSpPr>
        <p:spPr>
          <a:xfrm>
            <a:off x="256032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256032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1ère Année</a:t>
            </a:r>
            <a:endParaRPr b="0" i="0" sz="800" u="none" cap="none" strike="noStrike">
              <a:solidFill>
                <a:schemeClr val="dk1"/>
              </a:solidFill>
              <a:latin typeface="Calibri"/>
              <a:ea typeface="Calibri"/>
              <a:cs typeface="Calibri"/>
              <a:sym typeface="Calibri"/>
            </a:endParaRPr>
          </a:p>
        </p:txBody>
      </p:sp>
      <p:sp>
        <p:nvSpPr>
          <p:cNvPr id="124" name="Google Shape;124;p7"/>
          <p:cNvSpPr/>
          <p:nvPr/>
        </p:nvSpPr>
        <p:spPr>
          <a:xfrm>
            <a:off x="466344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466344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2ème Année</a:t>
            </a:r>
            <a:endParaRPr b="0" i="0" sz="800" u="none" cap="none" strike="noStrike">
              <a:solidFill>
                <a:schemeClr val="dk1"/>
              </a:solidFill>
              <a:latin typeface="Calibri"/>
              <a:ea typeface="Calibri"/>
              <a:cs typeface="Calibri"/>
              <a:sym typeface="Calibri"/>
            </a:endParaRPr>
          </a:p>
        </p:txBody>
      </p:sp>
      <p:sp>
        <p:nvSpPr>
          <p:cNvPr id="126" name="Google Shape;126;p7"/>
          <p:cNvSpPr/>
          <p:nvPr/>
        </p:nvSpPr>
        <p:spPr>
          <a:xfrm>
            <a:off x="676656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676656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Bilan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132" name="Shape 132"/>
        <p:cNvGrpSpPr/>
        <p:nvPr/>
      </p:nvGrpSpPr>
      <p:grpSpPr>
        <a:xfrm>
          <a:off x="0" y="0"/>
          <a:ext cx="0" cy="0"/>
          <a:chOff x="0" y="0"/>
          <a:chExt cx="0" cy="0"/>
        </a:xfrm>
      </p:grpSpPr>
      <p:sp>
        <p:nvSpPr>
          <p:cNvPr id="133" name="Google Shape;133;p8"/>
          <p:cNvSpPr/>
          <p:nvPr/>
        </p:nvSpPr>
        <p:spPr>
          <a:xfrm>
            <a:off x="0" y="0"/>
            <a:ext cx="9144000" cy="100584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02 — 1ère Année : Exemple de semaine (semaine 1)</a:t>
            </a:r>
            <a:endParaRPr b="0" i="0" sz="2200" u="none" cap="none" strike="noStrike">
              <a:solidFill>
                <a:schemeClr val="dk1"/>
              </a:solidFill>
              <a:latin typeface="Calibri"/>
              <a:ea typeface="Calibri"/>
              <a:cs typeface="Calibri"/>
              <a:sym typeface="Calibri"/>
            </a:endParaRPr>
          </a:p>
        </p:txBody>
      </p:sp>
      <p:sp>
        <p:nvSpPr>
          <p:cNvPr id="135" name="Google Shape;135;p8"/>
          <p:cNvSpPr/>
          <p:nvPr/>
        </p:nvSpPr>
        <p:spPr>
          <a:xfrm>
            <a:off x="365760" y="1143000"/>
            <a:ext cx="1600200" cy="41148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365760" y="1143000"/>
            <a:ext cx="1600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Lundi</a:t>
            </a:r>
            <a:endParaRPr b="0" i="0" sz="1200" u="none" cap="none" strike="noStrike">
              <a:solidFill>
                <a:schemeClr val="dk1"/>
              </a:solidFill>
              <a:latin typeface="Calibri"/>
              <a:ea typeface="Calibri"/>
              <a:cs typeface="Calibri"/>
              <a:sym typeface="Calibri"/>
            </a:endParaRPr>
          </a:p>
        </p:txBody>
      </p:sp>
      <p:sp>
        <p:nvSpPr>
          <p:cNvPr id="137" name="Google Shape;137;p8"/>
          <p:cNvSpPr/>
          <p:nvPr/>
        </p:nvSpPr>
        <p:spPr>
          <a:xfrm>
            <a:off x="365760" y="1554480"/>
            <a:ext cx="1600200" cy="33375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438912" y="1645920"/>
            <a:ext cx="1463040" cy="31089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Réunion d'équipe</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Réception PC</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Codes bar</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Préparation Bordeaux</a:t>
            </a:r>
            <a:endParaRPr b="0" i="0" sz="900" u="none" cap="none" strike="noStrike">
              <a:solidFill>
                <a:schemeClr val="dk1"/>
              </a:solidFill>
              <a:latin typeface="Calibri"/>
              <a:ea typeface="Calibri"/>
              <a:cs typeface="Calibri"/>
              <a:sym typeface="Calibri"/>
            </a:endParaRPr>
          </a:p>
        </p:txBody>
      </p:sp>
      <p:sp>
        <p:nvSpPr>
          <p:cNvPr id="139" name="Google Shape;139;p8"/>
          <p:cNvSpPr/>
          <p:nvPr/>
        </p:nvSpPr>
        <p:spPr>
          <a:xfrm>
            <a:off x="2103120" y="1143000"/>
            <a:ext cx="1600200" cy="41148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2103120" y="1143000"/>
            <a:ext cx="1600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Mardi</a:t>
            </a:r>
            <a:endParaRPr b="0" i="0" sz="1200" u="none" cap="none" strike="noStrike">
              <a:solidFill>
                <a:schemeClr val="dk1"/>
              </a:solidFill>
              <a:latin typeface="Calibri"/>
              <a:ea typeface="Calibri"/>
              <a:cs typeface="Calibri"/>
              <a:sym typeface="Calibri"/>
            </a:endParaRPr>
          </a:p>
        </p:txBody>
      </p:sp>
      <p:sp>
        <p:nvSpPr>
          <p:cNvPr id="141" name="Google Shape;141;p8"/>
          <p:cNvSpPr/>
          <p:nvPr/>
        </p:nvSpPr>
        <p:spPr>
          <a:xfrm>
            <a:off x="2103120" y="1554480"/>
            <a:ext cx="1600200" cy="33375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2176272" y="1645920"/>
            <a:ext cx="1463040" cy="31089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Changement de PC</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Formation habilitations</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Mise à jour parc</a:t>
            </a:r>
            <a:endParaRPr b="0" i="0" sz="900" u="none" cap="none" strike="noStrike">
              <a:solidFill>
                <a:schemeClr val="dk1"/>
              </a:solidFill>
              <a:latin typeface="Calibri"/>
              <a:ea typeface="Calibri"/>
              <a:cs typeface="Calibri"/>
              <a:sym typeface="Calibri"/>
            </a:endParaRPr>
          </a:p>
        </p:txBody>
      </p:sp>
      <p:sp>
        <p:nvSpPr>
          <p:cNvPr id="143" name="Google Shape;143;p8"/>
          <p:cNvSpPr/>
          <p:nvPr/>
        </p:nvSpPr>
        <p:spPr>
          <a:xfrm>
            <a:off x="3840480" y="1143000"/>
            <a:ext cx="1600200" cy="41148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3840480" y="1143000"/>
            <a:ext cx="1600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Mercredi</a:t>
            </a:r>
            <a:endParaRPr b="0" i="0" sz="1200" u="none" cap="none" strike="noStrike">
              <a:solidFill>
                <a:schemeClr val="dk1"/>
              </a:solidFill>
              <a:latin typeface="Calibri"/>
              <a:ea typeface="Calibri"/>
              <a:cs typeface="Calibri"/>
              <a:sym typeface="Calibri"/>
            </a:endParaRPr>
          </a:p>
        </p:txBody>
      </p:sp>
      <p:sp>
        <p:nvSpPr>
          <p:cNvPr id="145" name="Google Shape;145;p8"/>
          <p:cNvSpPr/>
          <p:nvPr/>
        </p:nvSpPr>
        <p:spPr>
          <a:xfrm>
            <a:off x="3840480" y="1554480"/>
            <a:ext cx="1600200" cy="33375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3913632" y="1645920"/>
            <a:ext cx="1463040" cy="31089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Boot PC en agence</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Reconstruction PC avec clé bootable</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Remasterisation tiny Lenovo</a:t>
            </a:r>
            <a:endParaRPr b="0" i="0" sz="900" u="none" cap="none" strike="noStrike">
              <a:solidFill>
                <a:schemeClr val="dk1"/>
              </a:solidFill>
              <a:latin typeface="Calibri"/>
              <a:ea typeface="Calibri"/>
              <a:cs typeface="Calibri"/>
              <a:sym typeface="Calibri"/>
            </a:endParaRPr>
          </a:p>
        </p:txBody>
      </p:sp>
      <p:sp>
        <p:nvSpPr>
          <p:cNvPr id="147" name="Google Shape;147;p8"/>
          <p:cNvSpPr/>
          <p:nvPr/>
        </p:nvSpPr>
        <p:spPr>
          <a:xfrm>
            <a:off x="5577840" y="1143000"/>
            <a:ext cx="1600200" cy="41148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5577840" y="1143000"/>
            <a:ext cx="1600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Jeudi</a:t>
            </a:r>
            <a:endParaRPr b="0" i="0" sz="1200" u="none" cap="none" strike="noStrike">
              <a:solidFill>
                <a:schemeClr val="dk1"/>
              </a:solidFill>
              <a:latin typeface="Calibri"/>
              <a:ea typeface="Calibri"/>
              <a:cs typeface="Calibri"/>
              <a:sym typeface="Calibri"/>
            </a:endParaRPr>
          </a:p>
        </p:txBody>
      </p:sp>
      <p:sp>
        <p:nvSpPr>
          <p:cNvPr id="149" name="Google Shape;149;p8"/>
          <p:cNvSpPr/>
          <p:nvPr/>
        </p:nvSpPr>
        <p:spPr>
          <a:xfrm>
            <a:off x="5577840" y="1554480"/>
            <a:ext cx="1600200" cy="33375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5650992" y="1645920"/>
            <a:ext cx="1463040" cy="31089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Reconstruction 5 PC</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Réparations</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Remise en stock</a:t>
            </a:r>
            <a:endParaRPr b="0" i="0" sz="900" u="none" cap="none" strike="noStrike">
              <a:solidFill>
                <a:schemeClr val="dk1"/>
              </a:solidFill>
              <a:latin typeface="Calibri"/>
              <a:ea typeface="Calibri"/>
              <a:cs typeface="Calibri"/>
              <a:sym typeface="Calibri"/>
            </a:endParaRPr>
          </a:p>
        </p:txBody>
      </p:sp>
      <p:sp>
        <p:nvSpPr>
          <p:cNvPr id="151" name="Google Shape;151;p8"/>
          <p:cNvSpPr/>
          <p:nvPr/>
        </p:nvSpPr>
        <p:spPr>
          <a:xfrm>
            <a:off x="7315200" y="1143000"/>
            <a:ext cx="1600200" cy="41148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7315200" y="1143000"/>
            <a:ext cx="1600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Vendredi</a:t>
            </a:r>
            <a:endParaRPr b="0" i="0" sz="1200" u="none" cap="none" strike="noStrike">
              <a:solidFill>
                <a:schemeClr val="dk1"/>
              </a:solidFill>
              <a:latin typeface="Calibri"/>
              <a:ea typeface="Calibri"/>
              <a:cs typeface="Calibri"/>
              <a:sym typeface="Calibri"/>
            </a:endParaRPr>
          </a:p>
        </p:txBody>
      </p:sp>
      <p:sp>
        <p:nvSpPr>
          <p:cNvPr id="153" name="Google Shape;153;p8"/>
          <p:cNvSpPr/>
          <p:nvPr/>
        </p:nvSpPr>
        <p:spPr>
          <a:xfrm>
            <a:off x="7315200" y="1554480"/>
            <a:ext cx="1600200" cy="33375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7388352" y="1645920"/>
            <a:ext cx="1463040" cy="31089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Habilitations intérimaires/stagiaires</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Remplissage salle formation Agen</a:t>
            </a:r>
            <a:endParaRPr b="0" i="0" sz="9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334155"/>
              </a:buClr>
              <a:buSzPts val="900"/>
              <a:buFont typeface="Calibri"/>
              <a:buChar char="•"/>
            </a:pPr>
            <a:r>
              <a:rPr b="0" i="0" lang="en-US" sz="900" u="none" cap="none" strike="noStrike">
                <a:solidFill>
                  <a:srgbClr val="334155"/>
                </a:solidFill>
                <a:latin typeface="Calibri"/>
                <a:ea typeface="Calibri"/>
                <a:cs typeface="Calibri"/>
                <a:sym typeface="Calibri"/>
              </a:rPr>
              <a:t>Réunion bilan semaine</a:t>
            </a:r>
            <a:endParaRPr b="0" i="0" sz="900" u="none" cap="none" strike="noStrike">
              <a:solidFill>
                <a:schemeClr val="dk1"/>
              </a:solidFill>
              <a:latin typeface="Calibri"/>
              <a:ea typeface="Calibri"/>
              <a:cs typeface="Calibri"/>
              <a:sym typeface="Calibri"/>
            </a:endParaRPr>
          </a:p>
        </p:txBody>
      </p:sp>
      <p:sp>
        <p:nvSpPr>
          <p:cNvPr id="155" name="Google Shape;155;p8"/>
          <p:cNvSpPr/>
          <p:nvPr/>
        </p:nvSpPr>
        <p:spPr>
          <a:xfrm>
            <a:off x="45720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45720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Présentation</a:t>
            </a:r>
            <a:endParaRPr b="0" i="0" sz="800" u="none" cap="none" strike="noStrike">
              <a:solidFill>
                <a:schemeClr val="dk1"/>
              </a:solidFill>
              <a:latin typeface="Calibri"/>
              <a:ea typeface="Calibri"/>
              <a:cs typeface="Calibri"/>
              <a:sym typeface="Calibri"/>
            </a:endParaRPr>
          </a:p>
        </p:txBody>
      </p:sp>
      <p:sp>
        <p:nvSpPr>
          <p:cNvPr id="157" name="Google Shape;157;p8"/>
          <p:cNvSpPr/>
          <p:nvPr/>
        </p:nvSpPr>
        <p:spPr>
          <a:xfrm>
            <a:off x="2560320" y="4754880"/>
            <a:ext cx="2011680" cy="274320"/>
          </a:xfrm>
          <a:prstGeom prst="roundRect">
            <a:avLst>
              <a:gd fmla="val 16667" name="adj"/>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256032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1ère Année</a:t>
            </a:r>
            <a:endParaRPr b="0" i="0" sz="800" u="none" cap="none" strike="noStrike">
              <a:solidFill>
                <a:schemeClr val="dk1"/>
              </a:solidFill>
              <a:latin typeface="Calibri"/>
              <a:ea typeface="Calibri"/>
              <a:cs typeface="Calibri"/>
              <a:sym typeface="Calibri"/>
            </a:endParaRPr>
          </a:p>
        </p:txBody>
      </p:sp>
      <p:sp>
        <p:nvSpPr>
          <p:cNvPr id="159" name="Google Shape;159;p8"/>
          <p:cNvSpPr/>
          <p:nvPr/>
        </p:nvSpPr>
        <p:spPr>
          <a:xfrm>
            <a:off x="466344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466344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2ème Année</a:t>
            </a:r>
            <a:endParaRPr b="0" i="0" sz="800" u="none" cap="none" strike="noStrike">
              <a:solidFill>
                <a:schemeClr val="dk1"/>
              </a:solidFill>
              <a:latin typeface="Calibri"/>
              <a:ea typeface="Calibri"/>
              <a:cs typeface="Calibri"/>
              <a:sym typeface="Calibri"/>
            </a:endParaRPr>
          </a:p>
        </p:txBody>
      </p:sp>
      <p:sp>
        <p:nvSpPr>
          <p:cNvPr id="161" name="Google Shape;161;p8"/>
          <p:cNvSpPr/>
          <p:nvPr/>
        </p:nvSpPr>
        <p:spPr>
          <a:xfrm>
            <a:off x="676656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676656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Bilan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167" name="Shape 167"/>
        <p:cNvGrpSpPr/>
        <p:nvPr/>
      </p:nvGrpSpPr>
      <p:grpSpPr>
        <a:xfrm>
          <a:off x="0" y="0"/>
          <a:ext cx="0" cy="0"/>
          <a:chOff x="0" y="0"/>
          <a:chExt cx="0" cy="0"/>
        </a:xfrm>
      </p:grpSpPr>
      <p:sp>
        <p:nvSpPr>
          <p:cNvPr id="168" name="Google Shape;168;p9"/>
          <p:cNvSpPr/>
          <p:nvPr/>
        </p:nvSpPr>
        <p:spPr>
          <a:xfrm>
            <a:off x="0" y="0"/>
            <a:ext cx="9144000" cy="100584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03 — 2ème Année : Projet T590 / T15 (Migration PC)</a:t>
            </a:r>
            <a:endParaRPr b="0" i="0" sz="2200" u="none" cap="none" strike="noStrike">
              <a:solidFill>
                <a:schemeClr val="dk1"/>
              </a:solidFill>
              <a:latin typeface="Calibri"/>
              <a:ea typeface="Calibri"/>
              <a:cs typeface="Calibri"/>
              <a:sym typeface="Calibri"/>
            </a:endParaRPr>
          </a:p>
        </p:txBody>
      </p:sp>
      <p:sp>
        <p:nvSpPr>
          <p:cNvPr id="170" name="Google Shape;170;p9"/>
          <p:cNvSpPr/>
          <p:nvPr/>
        </p:nvSpPr>
        <p:spPr>
          <a:xfrm>
            <a:off x="365760" y="1143000"/>
            <a:ext cx="512064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548640" y="1234440"/>
            <a:ext cx="47548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400"/>
              <a:buFont typeface="Calibri"/>
              <a:buNone/>
            </a:pPr>
            <a:r>
              <a:rPr b="1" i="0" lang="en-US" sz="1400" u="none" cap="none" strike="noStrike">
                <a:solidFill>
                  <a:srgbClr val="1A3A5C"/>
                </a:solidFill>
                <a:latin typeface="Calibri"/>
                <a:ea typeface="Calibri"/>
                <a:cs typeface="Calibri"/>
                <a:sym typeface="Calibri"/>
              </a:rPr>
              <a:t>Projet principal : Remplacement du parc T590</a:t>
            </a:r>
            <a:endParaRPr b="0" i="0" sz="1400" u="none" cap="none" strike="noStrike">
              <a:solidFill>
                <a:schemeClr val="dk1"/>
              </a:solidFill>
              <a:latin typeface="Calibri"/>
              <a:ea typeface="Calibri"/>
              <a:cs typeface="Calibri"/>
              <a:sym typeface="Calibri"/>
            </a:endParaRPr>
          </a:p>
        </p:txBody>
      </p:sp>
      <p:sp>
        <p:nvSpPr>
          <p:cNvPr id="172" name="Google Shape;172;p9"/>
          <p:cNvSpPr/>
          <p:nvPr/>
        </p:nvSpPr>
        <p:spPr>
          <a:xfrm>
            <a:off x="548640" y="1691640"/>
            <a:ext cx="4754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377"/>
              </a:buClr>
              <a:buSzPts val="1000"/>
              <a:buFont typeface="Calibri"/>
              <a:buNone/>
            </a:pPr>
            <a:r>
              <a:rPr b="1" i="0" lang="en-US" sz="1000" u="none" cap="none" strike="noStrike">
                <a:solidFill>
                  <a:srgbClr val="0D7377"/>
                </a:solidFill>
                <a:latin typeface="Calibri"/>
                <a:ea typeface="Calibri"/>
                <a:cs typeface="Calibri"/>
                <a:sym typeface="Calibri"/>
              </a:rPr>
              <a:t>Objectif : </a:t>
            </a:r>
            <a:r>
              <a:rPr b="0" i="0" lang="en-US" sz="1000" u="none" cap="none" strike="noStrike">
                <a:solidFill>
                  <a:srgbClr val="334155"/>
                </a:solidFill>
                <a:latin typeface="Calibri"/>
                <a:ea typeface="Calibri"/>
                <a:cs typeface="Calibri"/>
                <a:sym typeface="Calibri"/>
              </a:rPr>
              <a:t>Remplacer tous les PC portables modèle T590 arrivés en fin de garantie</a:t>
            </a:r>
            <a:endParaRPr b="0" i="0" sz="1000" u="none" cap="none" strike="noStrike">
              <a:solidFill>
                <a:schemeClr val="dk1"/>
              </a:solidFill>
              <a:latin typeface="Calibri"/>
              <a:ea typeface="Calibri"/>
              <a:cs typeface="Calibri"/>
              <a:sym typeface="Calibri"/>
            </a:endParaRPr>
          </a:p>
        </p:txBody>
      </p:sp>
      <p:sp>
        <p:nvSpPr>
          <p:cNvPr id="173" name="Google Shape;173;p9"/>
          <p:cNvSpPr/>
          <p:nvPr/>
        </p:nvSpPr>
        <p:spPr>
          <a:xfrm>
            <a:off x="548640" y="2258568"/>
            <a:ext cx="4754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377"/>
              </a:buClr>
              <a:buSzPts val="1000"/>
              <a:buFont typeface="Calibri"/>
              <a:buNone/>
            </a:pPr>
            <a:r>
              <a:rPr b="1" i="0" lang="en-US" sz="1000" u="none" cap="none" strike="noStrike">
                <a:solidFill>
                  <a:srgbClr val="0D7377"/>
                </a:solidFill>
                <a:latin typeface="Calibri"/>
                <a:ea typeface="Calibri"/>
                <a:cs typeface="Calibri"/>
                <a:sym typeface="Calibri"/>
              </a:rPr>
              <a:t>Mail type envoyé : </a:t>
            </a:r>
            <a:r>
              <a:rPr b="0" i="0" lang="en-US" sz="1000" u="none" cap="none" strike="noStrike">
                <a:solidFill>
                  <a:srgbClr val="334155"/>
                </a:solidFill>
                <a:latin typeface="Calibri"/>
                <a:ea typeface="Calibri"/>
                <a:cs typeface="Calibri"/>
                <a:sym typeface="Calibri"/>
              </a:rPr>
              <a:t>Information des utilisateurs + prise de RDV nominative (30 min par poste)</a:t>
            </a:r>
            <a:endParaRPr b="0" i="0" sz="1000" u="none" cap="none" strike="noStrike">
              <a:solidFill>
                <a:schemeClr val="dk1"/>
              </a:solidFill>
              <a:latin typeface="Calibri"/>
              <a:ea typeface="Calibri"/>
              <a:cs typeface="Calibri"/>
              <a:sym typeface="Calibri"/>
            </a:endParaRPr>
          </a:p>
        </p:txBody>
      </p:sp>
      <p:sp>
        <p:nvSpPr>
          <p:cNvPr id="174" name="Google Shape;174;p9"/>
          <p:cNvSpPr/>
          <p:nvPr/>
        </p:nvSpPr>
        <p:spPr>
          <a:xfrm>
            <a:off x="548640" y="2825496"/>
            <a:ext cx="4754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377"/>
              </a:buClr>
              <a:buSzPts val="1000"/>
              <a:buFont typeface="Calibri"/>
              <a:buNone/>
            </a:pPr>
            <a:r>
              <a:rPr b="1" i="0" lang="en-US" sz="1000" u="none" cap="none" strike="noStrike">
                <a:solidFill>
                  <a:srgbClr val="0D7377"/>
                </a:solidFill>
                <a:latin typeface="Calibri"/>
                <a:ea typeface="Calibri"/>
                <a:cs typeface="Calibri"/>
                <a:sym typeface="Calibri"/>
              </a:rPr>
              <a:t>Mise en garde : </a:t>
            </a:r>
            <a:r>
              <a:rPr b="0" i="0" lang="en-US" sz="1000" u="none" cap="none" strike="noStrike">
                <a:solidFill>
                  <a:srgbClr val="334155"/>
                </a:solidFill>
                <a:latin typeface="Calibri"/>
                <a:ea typeface="Calibri"/>
                <a:cs typeface="Calibri"/>
                <a:sym typeface="Calibri"/>
              </a:rPr>
              <a:t>Aucun fichier local → tout doit être sur le Drive avant le changement</a:t>
            </a:r>
            <a:endParaRPr b="0" i="0" sz="1000" u="none" cap="none" strike="noStrike">
              <a:solidFill>
                <a:schemeClr val="dk1"/>
              </a:solidFill>
              <a:latin typeface="Calibri"/>
              <a:ea typeface="Calibri"/>
              <a:cs typeface="Calibri"/>
              <a:sym typeface="Calibri"/>
            </a:endParaRPr>
          </a:p>
        </p:txBody>
      </p:sp>
      <p:sp>
        <p:nvSpPr>
          <p:cNvPr id="175" name="Google Shape;175;p9"/>
          <p:cNvSpPr/>
          <p:nvPr/>
        </p:nvSpPr>
        <p:spPr>
          <a:xfrm>
            <a:off x="548640" y="3392424"/>
            <a:ext cx="4754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377"/>
              </a:buClr>
              <a:buSzPts val="1000"/>
              <a:buFont typeface="Calibri"/>
              <a:buNone/>
            </a:pPr>
            <a:r>
              <a:rPr b="1" i="0" lang="en-US" sz="1000" u="none" cap="none" strike="noStrike">
                <a:solidFill>
                  <a:srgbClr val="0D7377"/>
                </a:solidFill>
                <a:latin typeface="Calibri"/>
                <a:ea typeface="Calibri"/>
                <a:cs typeface="Calibri"/>
                <a:sym typeface="Calibri"/>
              </a:rPr>
              <a:t>Sites concernés : </a:t>
            </a:r>
            <a:r>
              <a:rPr b="0" i="0" lang="en-US" sz="1000" u="none" cap="none" strike="noStrike">
                <a:solidFill>
                  <a:srgbClr val="334155"/>
                </a:solidFill>
                <a:latin typeface="Calibri"/>
                <a:ea typeface="Calibri"/>
                <a:cs typeface="Calibri"/>
                <a:sym typeface="Calibri"/>
              </a:rPr>
              <a:t>Agen, Toulouse, Bordeaux, La Teste de Buch, Mérignac</a:t>
            </a:r>
            <a:endParaRPr b="0" i="0" sz="1000" u="none" cap="none" strike="noStrike">
              <a:solidFill>
                <a:schemeClr val="dk1"/>
              </a:solidFill>
              <a:latin typeface="Calibri"/>
              <a:ea typeface="Calibri"/>
              <a:cs typeface="Calibri"/>
              <a:sym typeface="Calibri"/>
            </a:endParaRPr>
          </a:p>
        </p:txBody>
      </p:sp>
      <p:sp>
        <p:nvSpPr>
          <p:cNvPr id="176" name="Google Shape;176;p9"/>
          <p:cNvSpPr/>
          <p:nvPr/>
        </p:nvSpPr>
        <p:spPr>
          <a:xfrm>
            <a:off x="548640" y="3959352"/>
            <a:ext cx="47548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7377"/>
              </a:buClr>
              <a:buSzPts val="1000"/>
              <a:buFont typeface="Calibri"/>
              <a:buNone/>
            </a:pPr>
            <a:r>
              <a:rPr b="1" i="0" lang="en-US" sz="1000" u="none" cap="none" strike="noStrike">
                <a:solidFill>
                  <a:srgbClr val="0D7377"/>
                </a:solidFill>
                <a:latin typeface="Calibri"/>
                <a:ea typeface="Calibri"/>
                <a:cs typeface="Calibri"/>
                <a:sym typeface="Calibri"/>
              </a:rPr>
              <a:t>Actions réalisées : </a:t>
            </a:r>
            <a:r>
              <a:rPr b="0" i="0" lang="en-US" sz="1000" u="none" cap="none" strike="noStrike">
                <a:solidFill>
                  <a:srgbClr val="334155"/>
                </a:solidFill>
                <a:latin typeface="Calibri"/>
                <a:ea typeface="Calibri"/>
                <a:cs typeface="Calibri"/>
                <a:sym typeface="Calibri"/>
              </a:rPr>
              <a:t>Prise de RDV, changement PC, configuration poste, mise à jour parc informatique</a:t>
            </a:r>
            <a:endParaRPr b="0" i="0" sz="1000" u="none" cap="none" strike="noStrike">
              <a:solidFill>
                <a:schemeClr val="dk1"/>
              </a:solidFill>
              <a:latin typeface="Calibri"/>
              <a:ea typeface="Calibri"/>
              <a:cs typeface="Calibri"/>
              <a:sym typeface="Calibri"/>
            </a:endParaRPr>
          </a:p>
        </p:txBody>
      </p:sp>
      <p:sp>
        <p:nvSpPr>
          <p:cNvPr id="177" name="Google Shape;177;p9"/>
          <p:cNvSpPr/>
          <p:nvPr/>
        </p:nvSpPr>
        <p:spPr>
          <a:xfrm>
            <a:off x="5669280" y="1143000"/>
            <a:ext cx="3108960" cy="182880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5669280" y="1143000"/>
            <a:ext cx="31089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Capture : Google Drive (sauvegarde utilisateurs)</a:t>
            </a:r>
            <a:endParaRPr b="0" i="0" sz="800" u="none" cap="none" strike="noStrike">
              <a:solidFill>
                <a:schemeClr val="dk1"/>
              </a:solidFill>
              <a:latin typeface="Calibri"/>
              <a:ea typeface="Calibri"/>
              <a:cs typeface="Calibri"/>
              <a:sym typeface="Calibri"/>
            </a:endParaRPr>
          </a:p>
        </p:txBody>
      </p:sp>
      <p:pic>
        <p:nvPicPr>
          <p:cNvPr descr="preencoded.png" id="179" name="Google Shape;179;p9"/>
          <p:cNvPicPr preferRelativeResize="0"/>
          <p:nvPr/>
        </p:nvPicPr>
        <p:blipFill rotWithShape="1">
          <a:blip r:embed="rId3">
            <a:alphaModFix/>
          </a:blip>
          <a:srcRect b="0" l="0" r="0" t="0"/>
          <a:stretch/>
        </p:blipFill>
        <p:spPr>
          <a:xfrm>
            <a:off x="5715000" y="1463040"/>
            <a:ext cx="3017520" cy="1417320"/>
          </a:xfrm>
          <a:prstGeom prst="rect">
            <a:avLst/>
          </a:prstGeom>
          <a:noFill/>
          <a:ln>
            <a:noFill/>
          </a:ln>
        </p:spPr>
      </p:pic>
      <p:sp>
        <p:nvSpPr>
          <p:cNvPr id="180" name="Google Shape;180;p9"/>
          <p:cNvSpPr/>
          <p:nvPr/>
        </p:nvSpPr>
        <p:spPr>
          <a:xfrm>
            <a:off x="5669280" y="3063240"/>
            <a:ext cx="3108960" cy="182880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5669280" y="3063240"/>
            <a:ext cx="31089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Capture : Ticket EasyVista — Résolution incident</a:t>
            </a:r>
            <a:endParaRPr b="0" i="0" sz="800" u="none" cap="none" strike="noStrike">
              <a:solidFill>
                <a:schemeClr val="dk1"/>
              </a:solidFill>
              <a:latin typeface="Calibri"/>
              <a:ea typeface="Calibri"/>
              <a:cs typeface="Calibri"/>
              <a:sym typeface="Calibri"/>
            </a:endParaRPr>
          </a:p>
        </p:txBody>
      </p:sp>
      <p:pic>
        <p:nvPicPr>
          <p:cNvPr descr="preencoded.png" id="182" name="Google Shape;182;p9"/>
          <p:cNvPicPr preferRelativeResize="0"/>
          <p:nvPr/>
        </p:nvPicPr>
        <p:blipFill rotWithShape="1">
          <a:blip r:embed="rId4">
            <a:alphaModFix/>
          </a:blip>
          <a:srcRect b="0" l="0" r="0" t="0"/>
          <a:stretch/>
        </p:blipFill>
        <p:spPr>
          <a:xfrm>
            <a:off x="5715000" y="3383280"/>
            <a:ext cx="3017520" cy="1417320"/>
          </a:xfrm>
          <a:prstGeom prst="rect">
            <a:avLst/>
          </a:prstGeom>
          <a:noFill/>
          <a:ln>
            <a:noFill/>
          </a:ln>
        </p:spPr>
      </p:pic>
      <p:sp>
        <p:nvSpPr>
          <p:cNvPr id="183" name="Google Shape;183;p9"/>
          <p:cNvSpPr/>
          <p:nvPr/>
        </p:nvSpPr>
        <p:spPr>
          <a:xfrm>
            <a:off x="45720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45720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Présentation</a:t>
            </a:r>
            <a:endParaRPr b="0" i="0" sz="800" u="none" cap="none" strike="noStrike">
              <a:solidFill>
                <a:schemeClr val="dk1"/>
              </a:solidFill>
              <a:latin typeface="Calibri"/>
              <a:ea typeface="Calibri"/>
              <a:cs typeface="Calibri"/>
              <a:sym typeface="Calibri"/>
            </a:endParaRPr>
          </a:p>
        </p:txBody>
      </p:sp>
      <p:sp>
        <p:nvSpPr>
          <p:cNvPr id="185" name="Google Shape;185;p9"/>
          <p:cNvSpPr/>
          <p:nvPr/>
        </p:nvSpPr>
        <p:spPr>
          <a:xfrm>
            <a:off x="256032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256032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1ère Année</a:t>
            </a:r>
            <a:endParaRPr b="0" i="0" sz="800" u="none" cap="none" strike="noStrike">
              <a:solidFill>
                <a:schemeClr val="dk1"/>
              </a:solidFill>
              <a:latin typeface="Calibri"/>
              <a:ea typeface="Calibri"/>
              <a:cs typeface="Calibri"/>
              <a:sym typeface="Calibri"/>
            </a:endParaRPr>
          </a:p>
        </p:txBody>
      </p:sp>
      <p:sp>
        <p:nvSpPr>
          <p:cNvPr id="187" name="Google Shape;187;p9"/>
          <p:cNvSpPr/>
          <p:nvPr/>
        </p:nvSpPr>
        <p:spPr>
          <a:xfrm>
            <a:off x="4663440" y="4754880"/>
            <a:ext cx="2011680" cy="274320"/>
          </a:xfrm>
          <a:prstGeom prst="roundRect">
            <a:avLst>
              <a:gd fmla="val 16667" name="adj"/>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466344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2ème Année</a:t>
            </a:r>
            <a:endParaRPr b="0" i="0" sz="800" u="none" cap="none" strike="noStrike">
              <a:solidFill>
                <a:schemeClr val="dk1"/>
              </a:solidFill>
              <a:latin typeface="Calibri"/>
              <a:ea typeface="Calibri"/>
              <a:cs typeface="Calibri"/>
              <a:sym typeface="Calibri"/>
            </a:endParaRPr>
          </a:p>
        </p:txBody>
      </p:sp>
      <p:sp>
        <p:nvSpPr>
          <p:cNvPr id="189" name="Google Shape;189;p9"/>
          <p:cNvSpPr/>
          <p:nvPr/>
        </p:nvSpPr>
        <p:spPr>
          <a:xfrm>
            <a:off x="676656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676656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Bilan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195" name="Shape 195"/>
        <p:cNvGrpSpPr/>
        <p:nvPr/>
      </p:nvGrpSpPr>
      <p:grpSpPr>
        <a:xfrm>
          <a:off x="0" y="0"/>
          <a:ext cx="0" cy="0"/>
          <a:chOff x="0" y="0"/>
          <a:chExt cx="0" cy="0"/>
        </a:xfrm>
      </p:grpSpPr>
      <p:sp>
        <p:nvSpPr>
          <p:cNvPr id="196" name="Google Shape;196;p10"/>
          <p:cNvSpPr/>
          <p:nvPr/>
        </p:nvSpPr>
        <p:spPr>
          <a:xfrm>
            <a:off x="0" y="0"/>
            <a:ext cx="9144000" cy="100584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03 — 2ème Année : Déplacements &amp; Missions avancées</a:t>
            </a:r>
            <a:endParaRPr b="0" i="0" sz="2200" u="none" cap="none" strike="noStrike">
              <a:solidFill>
                <a:schemeClr val="dk1"/>
              </a:solidFill>
              <a:latin typeface="Calibri"/>
              <a:ea typeface="Calibri"/>
              <a:cs typeface="Calibri"/>
              <a:sym typeface="Calibri"/>
            </a:endParaRPr>
          </a:p>
        </p:txBody>
      </p:sp>
      <p:sp>
        <p:nvSpPr>
          <p:cNvPr id="198" name="Google Shape;198;p10"/>
          <p:cNvSpPr/>
          <p:nvPr/>
        </p:nvSpPr>
        <p:spPr>
          <a:xfrm>
            <a:off x="365760" y="1143000"/>
            <a:ext cx="274320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365760" y="1143000"/>
            <a:ext cx="2743200" cy="54864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457200" y="1143000"/>
            <a:ext cx="25603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Mérignac — Formation nouveaux arrivants</a:t>
            </a:r>
            <a:endParaRPr b="0" i="0" sz="1000" u="none" cap="none" strike="noStrike">
              <a:solidFill>
                <a:schemeClr val="dk1"/>
              </a:solidFill>
              <a:latin typeface="Calibri"/>
              <a:ea typeface="Calibri"/>
              <a:cs typeface="Calibri"/>
              <a:sym typeface="Calibri"/>
            </a:endParaRPr>
          </a:p>
        </p:txBody>
      </p:sp>
      <p:sp>
        <p:nvSpPr>
          <p:cNvPr id="201" name="Google Shape;201;p10"/>
          <p:cNvSpPr/>
          <p:nvPr/>
        </p:nvSpPr>
        <p:spPr>
          <a:xfrm>
            <a:off x="457200" y="1737360"/>
            <a:ext cx="2560320" cy="29260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Présentation du service SDP et des outils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Rappel règles mot de passe (changement tous les 3 mois)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Accès distant pour télétravail (activable après 9 mois)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Formation casque : chargement, appairage, micro</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Demandes de service uniquement via le manager</a:t>
            </a:r>
            <a:endParaRPr b="0" i="0" sz="950" u="none" cap="none" strike="noStrike">
              <a:solidFill>
                <a:schemeClr val="dk1"/>
              </a:solidFill>
              <a:latin typeface="Calibri"/>
              <a:ea typeface="Calibri"/>
              <a:cs typeface="Calibri"/>
              <a:sym typeface="Calibri"/>
            </a:endParaRPr>
          </a:p>
        </p:txBody>
      </p:sp>
      <p:sp>
        <p:nvSpPr>
          <p:cNvPr id="202" name="Google Shape;202;p10"/>
          <p:cNvSpPr/>
          <p:nvPr/>
        </p:nvSpPr>
        <p:spPr>
          <a:xfrm>
            <a:off x="3200400" y="1143000"/>
            <a:ext cx="274320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3200400" y="1143000"/>
            <a:ext cx="2743200" cy="54864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3291840" y="1143000"/>
            <a:ext cx="25603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Toulouse — Permanences (x2) + Formations</a:t>
            </a:r>
            <a:endParaRPr b="0" i="0" sz="1000" u="none" cap="none" strike="noStrike">
              <a:solidFill>
                <a:schemeClr val="dk1"/>
              </a:solidFill>
              <a:latin typeface="Calibri"/>
              <a:ea typeface="Calibri"/>
              <a:cs typeface="Calibri"/>
              <a:sym typeface="Calibri"/>
            </a:endParaRPr>
          </a:p>
        </p:txBody>
      </p:sp>
      <p:sp>
        <p:nvSpPr>
          <p:cNvPr id="205" name="Google Shape;205;p10"/>
          <p:cNvSpPr/>
          <p:nvPr/>
        </p:nvSpPr>
        <p:spPr>
          <a:xfrm>
            <a:off x="3291840" y="1737360"/>
            <a:ext cx="2560320" cy="29260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Changement d'écrans en salle de formation</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Changement station utilisateur</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Mise à jour casques Jabra 55 sans fil (.bat et .ps1)</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Situer les imprimantes sur plan du site</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Décommission écrans 22 pouces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Remise de kits télétravail</a:t>
            </a:r>
            <a:endParaRPr b="0" i="0" sz="950" u="none" cap="none" strike="noStrike">
              <a:solidFill>
                <a:schemeClr val="dk1"/>
              </a:solidFill>
              <a:latin typeface="Calibri"/>
              <a:ea typeface="Calibri"/>
              <a:cs typeface="Calibri"/>
              <a:sym typeface="Calibri"/>
            </a:endParaRPr>
          </a:p>
        </p:txBody>
      </p:sp>
      <p:sp>
        <p:nvSpPr>
          <p:cNvPr id="206" name="Google Shape;206;p10"/>
          <p:cNvSpPr/>
          <p:nvPr/>
        </p:nvSpPr>
        <p:spPr>
          <a:xfrm>
            <a:off x="6035040" y="1143000"/>
            <a:ext cx="2743200" cy="374904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6035040" y="1143000"/>
            <a:ext cx="2743200" cy="54864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6126480" y="1143000"/>
            <a:ext cx="25603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Projet ADDICT — Bergerac &amp; Moissac</a:t>
            </a:r>
            <a:endParaRPr b="0" i="0" sz="1000" u="none" cap="none" strike="noStrike">
              <a:solidFill>
                <a:schemeClr val="dk1"/>
              </a:solidFill>
              <a:latin typeface="Calibri"/>
              <a:ea typeface="Calibri"/>
              <a:cs typeface="Calibri"/>
              <a:sym typeface="Calibri"/>
            </a:endParaRPr>
          </a:p>
        </p:txBody>
      </p:sp>
      <p:sp>
        <p:nvSpPr>
          <p:cNvPr id="209" name="Google Shape;209;p10"/>
          <p:cNvSpPr/>
          <p:nvPr/>
        </p:nvSpPr>
        <p:spPr>
          <a:xfrm>
            <a:off x="6126480" y="1737360"/>
            <a:ext cx="2560320" cy="29260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Accompagnement des conseillers en agence</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Mise en place de postes de travail complets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Configuration : écran, clavier, souris, daisy chain, câble ethernet</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Réparation d'afficheurs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US" sz="950" u="none" cap="none" strike="noStrike">
                <a:solidFill>
                  <a:srgbClr val="334155"/>
                </a:solidFill>
                <a:latin typeface="Calibri"/>
                <a:ea typeface="Calibri"/>
                <a:cs typeface="Calibri"/>
                <a:sym typeface="Calibri"/>
              </a:rPr>
              <a:t>Configuration PingID et changement de mots de passe</a:t>
            </a:r>
            <a:endParaRPr b="0" i="0" sz="950" u="none" cap="none" strike="noStrike">
              <a:solidFill>
                <a:schemeClr val="dk1"/>
              </a:solidFill>
              <a:latin typeface="Calibri"/>
              <a:ea typeface="Calibri"/>
              <a:cs typeface="Calibri"/>
              <a:sym typeface="Calibri"/>
            </a:endParaRPr>
          </a:p>
        </p:txBody>
      </p:sp>
      <p:sp>
        <p:nvSpPr>
          <p:cNvPr id="210" name="Google Shape;210;p10"/>
          <p:cNvSpPr/>
          <p:nvPr/>
        </p:nvSpPr>
        <p:spPr>
          <a:xfrm>
            <a:off x="45720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45720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Présentation</a:t>
            </a:r>
            <a:endParaRPr b="0" i="0" sz="800" u="none" cap="none" strike="noStrike">
              <a:solidFill>
                <a:schemeClr val="dk1"/>
              </a:solidFill>
              <a:latin typeface="Calibri"/>
              <a:ea typeface="Calibri"/>
              <a:cs typeface="Calibri"/>
              <a:sym typeface="Calibri"/>
            </a:endParaRPr>
          </a:p>
        </p:txBody>
      </p:sp>
      <p:sp>
        <p:nvSpPr>
          <p:cNvPr id="212" name="Google Shape;212;p10"/>
          <p:cNvSpPr/>
          <p:nvPr/>
        </p:nvSpPr>
        <p:spPr>
          <a:xfrm>
            <a:off x="256032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256032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1ère Année</a:t>
            </a:r>
            <a:endParaRPr b="0" i="0" sz="800" u="none" cap="none" strike="noStrike">
              <a:solidFill>
                <a:schemeClr val="dk1"/>
              </a:solidFill>
              <a:latin typeface="Calibri"/>
              <a:ea typeface="Calibri"/>
              <a:cs typeface="Calibri"/>
              <a:sym typeface="Calibri"/>
            </a:endParaRPr>
          </a:p>
        </p:txBody>
      </p:sp>
      <p:sp>
        <p:nvSpPr>
          <p:cNvPr id="214" name="Google Shape;214;p10"/>
          <p:cNvSpPr/>
          <p:nvPr/>
        </p:nvSpPr>
        <p:spPr>
          <a:xfrm>
            <a:off x="4663440" y="4754880"/>
            <a:ext cx="2011680" cy="274320"/>
          </a:xfrm>
          <a:prstGeom prst="roundRect">
            <a:avLst>
              <a:gd fmla="val 16667" name="adj"/>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466344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2ème Année</a:t>
            </a:r>
            <a:endParaRPr b="0" i="0" sz="800" u="none" cap="none" strike="noStrike">
              <a:solidFill>
                <a:schemeClr val="dk1"/>
              </a:solidFill>
              <a:latin typeface="Calibri"/>
              <a:ea typeface="Calibri"/>
              <a:cs typeface="Calibri"/>
              <a:sym typeface="Calibri"/>
            </a:endParaRPr>
          </a:p>
        </p:txBody>
      </p:sp>
      <p:sp>
        <p:nvSpPr>
          <p:cNvPr id="216" name="Google Shape;216;p10"/>
          <p:cNvSpPr/>
          <p:nvPr/>
        </p:nvSpPr>
        <p:spPr>
          <a:xfrm>
            <a:off x="676656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676656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Bilan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222" name="Shape 222"/>
        <p:cNvGrpSpPr/>
        <p:nvPr/>
      </p:nvGrpSpPr>
      <p:grpSpPr>
        <a:xfrm>
          <a:off x="0" y="0"/>
          <a:ext cx="0" cy="0"/>
          <a:chOff x="0" y="0"/>
          <a:chExt cx="0" cy="0"/>
        </a:xfrm>
      </p:grpSpPr>
      <p:sp>
        <p:nvSpPr>
          <p:cNvPr id="223" name="Google Shape;223;p11"/>
          <p:cNvSpPr/>
          <p:nvPr/>
        </p:nvSpPr>
        <p:spPr>
          <a:xfrm>
            <a:off x="0" y="0"/>
            <a:ext cx="9144000" cy="100584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03 — 2ème Année : Résolution de problèmes</a:t>
            </a:r>
            <a:endParaRPr b="0" i="0" sz="2200" u="none" cap="none" strike="noStrike">
              <a:solidFill>
                <a:schemeClr val="dk1"/>
              </a:solidFill>
              <a:latin typeface="Calibri"/>
              <a:ea typeface="Calibri"/>
              <a:cs typeface="Calibri"/>
              <a:sym typeface="Calibri"/>
            </a:endParaRPr>
          </a:p>
        </p:txBody>
      </p:sp>
      <p:sp>
        <p:nvSpPr>
          <p:cNvPr id="225" name="Google Shape;225;p11"/>
          <p:cNvSpPr/>
          <p:nvPr/>
        </p:nvSpPr>
        <p:spPr>
          <a:xfrm>
            <a:off x="365760" y="1143000"/>
            <a:ext cx="4206240" cy="8229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a:off x="365760" y="1143000"/>
            <a:ext cx="64008" cy="82296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502920" y="118872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i="0" lang="en-US" sz="1000" u="none" cap="none" strike="noStrike">
                <a:solidFill>
                  <a:srgbClr val="1A3A5C"/>
                </a:solidFill>
                <a:latin typeface="Calibri"/>
                <a:ea typeface="Calibri"/>
                <a:cs typeface="Calibri"/>
                <a:sym typeface="Calibri"/>
              </a:rPr>
              <a:t>Problème Tatie (écran)</a:t>
            </a:r>
            <a:endParaRPr b="0" i="0" sz="1000" u="none" cap="none" strike="noStrike">
              <a:solidFill>
                <a:schemeClr val="dk1"/>
              </a:solidFill>
              <a:latin typeface="Calibri"/>
              <a:ea typeface="Calibri"/>
              <a:cs typeface="Calibri"/>
              <a:sym typeface="Calibri"/>
            </a:endParaRPr>
          </a:p>
        </p:txBody>
      </p:sp>
      <p:sp>
        <p:nvSpPr>
          <p:cNvPr id="228" name="Google Shape;228;p11"/>
          <p:cNvSpPr/>
          <p:nvPr/>
        </p:nvSpPr>
        <p:spPr>
          <a:xfrm>
            <a:off x="502920" y="1490472"/>
            <a:ext cx="33832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Écran ne fonctionnait pas au branchement sur certains postes → Mise à jour Lenovo via Vantage</a:t>
            </a:r>
            <a:endParaRPr b="0" i="0" sz="850" u="none" cap="none" strike="noStrike">
              <a:solidFill>
                <a:schemeClr val="dk1"/>
              </a:solidFill>
              <a:latin typeface="Calibri"/>
              <a:ea typeface="Calibri"/>
              <a:cs typeface="Calibri"/>
              <a:sym typeface="Calibri"/>
            </a:endParaRPr>
          </a:p>
        </p:txBody>
      </p:sp>
      <p:sp>
        <p:nvSpPr>
          <p:cNvPr id="229" name="Google Shape;229;p11"/>
          <p:cNvSpPr/>
          <p:nvPr/>
        </p:nvSpPr>
        <p:spPr>
          <a:xfrm>
            <a:off x="3931920" y="1188720"/>
            <a:ext cx="594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Résolu</a:t>
            </a:r>
            <a:endParaRPr b="0" i="0" sz="700" u="none" cap="none" strike="noStrike">
              <a:solidFill>
                <a:schemeClr val="dk1"/>
              </a:solidFill>
              <a:latin typeface="Calibri"/>
              <a:ea typeface="Calibri"/>
              <a:cs typeface="Calibri"/>
              <a:sym typeface="Calibri"/>
            </a:endParaRPr>
          </a:p>
        </p:txBody>
      </p:sp>
      <p:sp>
        <p:nvSpPr>
          <p:cNvPr id="230" name="Google Shape;230;p11"/>
          <p:cNvSpPr/>
          <p:nvPr/>
        </p:nvSpPr>
        <p:spPr>
          <a:xfrm>
            <a:off x="4754880" y="1143000"/>
            <a:ext cx="4206240" cy="8229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4754880" y="1143000"/>
            <a:ext cx="64008" cy="82296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4892040" y="118872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i="0" lang="en-US" sz="1000" u="none" cap="none" strike="noStrike">
                <a:solidFill>
                  <a:srgbClr val="1A3A5C"/>
                </a:solidFill>
                <a:latin typeface="Calibri"/>
                <a:ea typeface="Calibri"/>
                <a:cs typeface="Calibri"/>
                <a:sym typeface="Calibri"/>
              </a:rPr>
              <a:t>Sonnerie bandeau WDE</a:t>
            </a:r>
            <a:endParaRPr b="0" i="0" sz="1000" u="none" cap="none" strike="noStrike">
              <a:solidFill>
                <a:schemeClr val="dk1"/>
              </a:solidFill>
              <a:latin typeface="Calibri"/>
              <a:ea typeface="Calibri"/>
              <a:cs typeface="Calibri"/>
              <a:sym typeface="Calibri"/>
            </a:endParaRPr>
          </a:p>
        </p:txBody>
      </p:sp>
      <p:sp>
        <p:nvSpPr>
          <p:cNvPr id="233" name="Google Shape;233;p11"/>
          <p:cNvSpPr/>
          <p:nvPr/>
        </p:nvSpPr>
        <p:spPr>
          <a:xfrm>
            <a:off x="4892040" y="1490472"/>
            <a:ext cx="33832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Disparition de la sonnerie après mise à jour → Ticket I250617_0401 — Résolution en cours (priorité 3-Faible)</a:t>
            </a:r>
            <a:endParaRPr b="0" i="0" sz="850" u="none" cap="none" strike="noStrike">
              <a:solidFill>
                <a:schemeClr val="dk1"/>
              </a:solidFill>
              <a:latin typeface="Calibri"/>
              <a:ea typeface="Calibri"/>
              <a:cs typeface="Calibri"/>
              <a:sym typeface="Calibri"/>
            </a:endParaRPr>
          </a:p>
        </p:txBody>
      </p:sp>
      <p:sp>
        <p:nvSpPr>
          <p:cNvPr id="234" name="Google Shape;234;p11"/>
          <p:cNvSpPr/>
          <p:nvPr/>
        </p:nvSpPr>
        <p:spPr>
          <a:xfrm>
            <a:off x="8321040" y="1188720"/>
            <a:ext cx="594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C2626"/>
              </a:buClr>
              <a:buSzPts val="700"/>
              <a:buFont typeface="Calibri"/>
              <a:buNone/>
            </a:pPr>
            <a:r>
              <a:rPr b="1" i="0" lang="en-US" sz="700" u="none" cap="none" strike="noStrike">
                <a:solidFill>
                  <a:srgbClr val="DC2626"/>
                </a:solidFill>
                <a:latin typeface="Calibri"/>
                <a:ea typeface="Calibri"/>
                <a:cs typeface="Calibri"/>
                <a:sym typeface="Calibri"/>
              </a:rPr>
              <a:t>Ticket</a:t>
            </a:r>
            <a:endParaRPr b="0" i="0" sz="700" u="none" cap="none" strike="noStrike">
              <a:solidFill>
                <a:schemeClr val="dk1"/>
              </a:solidFill>
              <a:latin typeface="Calibri"/>
              <a:ea typeface="Calibri"/>
              <a:cs typeface="Calibri"/>
              <a:sym typeface="Calibri"/>
            </a:endParaRPr>
          </a:p>
        </p:txBody>
      </p:sp>
      <p:sp>
        <p:nvSpPr>
          <p:cNvPr id="235" name="Google Shape;235;p11"/>
          <p:cNvSpPr/>
          <p:nvPr/>
        </p:nvSpPr>
        <p:spPr>
          <a:xfrm>
            <a:off x="365760" y="2103120"/>
            <a:ext cx="4206240" cy="8229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365760" y="2103120"/>
            <a:ext cx="64008" cy="82296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502920" y="214884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i="0" lang="en-US" sz="1000" u="none" cap="none" strike="noStrike">
                <a:solidFill>
                  <a:srgbClr val="1A3A5C"/>
                </a:solidFill>
                <a:latin typeface="Calibri"/>
                <a:ea typeface="Calibri"/>
                <a:cs typeface="Calibri"/>
                <a:sym typeface="Calibri"/>
              </a:rPr>
              <a:t>Compte Google non synchronisé</a:t>
            </a:r>
            <a:endParaRPr b="0" i="0" sz="1000" u="none" cap="none" strike="noStrike">
              <a:solidFill>
                <a:schemeClr val="dk1"/>
              </a:solidFill>
              <a:latin typeface="Calibri"/>
              <a:ea typeface="Calibri"/>
              <a:cs typeface="Calibri"/>
              <a:sym typeface="Calibri"/>
            </a:endParaRPr>
          </a:p>
        </p:txBody>
      </p:sp>
      <p:sp>
        <p:nvSpPr>
          <p:cNvPr id="238" name="Google Shape;238;p11"/>
          <p:cNvSpPr/>
          <p:nvPr/>
        </p:nvSpPr>
        <p:spPr>
          <a:xfrm>
            <a:off x="502920" y="2450592"/>
            <a:ext cx="33832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Plusieurs Chrome sans compte → Suppression des nouveaux comptes, reconnexion du bon compte avec synchronisation</a:t>
            </a:r>
            <a:endParaRPr b="0" i="0" sz="850" u="none" cap="none" strike="noStrike">
              <a:solidFill>
                <a:schemeClr val="dk1"/>
              </a:solidFill>
              <a:latin typeface="Calibri"/>
              <a:ea typeface="Calibri"/>
              <a:cs typeface="Calibri"/>
              <a:sym typeface="Calibri"/>
            </a:endParaRPr>
          </a:p>
        </p:txBody>
      </p:sp>
      <p:sp>
        <p:nvSpPr>
          <p:cNvPr id="239" name="Google Shape;239;p11"/>
          <p:cNvSpPr/>
          <p:nvPr/>
        </p:nvSpPr>
        <p:spPr>
          <a:xfrm>
            <a:off x="3931920" y="2148840"/>
            <a:ext cx="594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Résolu</a:t>
            </a:r>
            <a:endParaRPr b="0" i="0" sz="700" u="none" cap="none" strike="noStrike">
              <a:solidFill>
                <a:schemeClr val="dk1"/>
              </a:solidFill>
              <a:latin typeface="Calibri"/>
              <a:ea typeface="Calibri"/>
              <a:cs typeface="Calibri"/>
              <a:sym typeface="Calibri"/>
            </a:endParaRPr>
          </a:p>
        </p:txBody>
      </p:sp>
      <p:sp>
        <p:nvSpPr>
          <p:cNvPr id="240" name="Google Shape;240;p11"/>
          <p:cNvSpPr/>
          <p:nvPr/>
        </p:nvSpPr>
        <p:spPr>
          <a:xfrm>
            <a:off x="4754880" y="2103120"/>
            <a:ext cx="4206240" cy="8229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4754880" y="2103120"/>
            <a:ext cx="64008" cy="82296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4892040" y="214884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i="0" lang="en-US" sz="1000" u="none" cap="none" strike="noStrike">
                <a:solidFill>
                  <a:srgbClr val="1A3A5C"/>
                </a:solidFill>
                <a:latin typeface="Calibri"/>
                <a:ea typeface="Calibri"/>
                <a:cs typeface="Calibri"/>
                <a:sym typeface="Calibri"/>
              </a:rPr>
              <a:t>Problème MBV (salle formation)</a:t>
            </a:r>
            <a:endParaRPr b="0" i="0" sz="1000" u="none" cap="none" strike="noStrike">
              <a:solidFill>
                <a:schemeClr val="dk1"/>
              </a:solidFill>
              <a:latin typeface="Calibri"/>
              <a:ea typeface="Calibri"/>
              <a:cs typeface="Calibri"/>
              <a:sym typeface="Calibri"/>
            </a:endParaRPr>
          </a:p>
        </p:txBody>
      </p:sp>
      <p:sp>
        <p:nvSpPr>
          <p:cNvPr id="243" name="Google Shape;243;p11"/>
          <p:cNvSpPr/>
          <p:nvPr/>
        </p:nvSpPr>
        <p:spPr>
          <a:xfrm>
            <a:off x="4892040" y="2450592"/>
            <a:ext cx="33832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Résolution du problème d'accès MBV en salle de formation (macif.fr)</a:t>
            </a:r>
            <a:endParaRPr b="0" i="0" sz="850" u="none" cap="none" strike="noStrike">
              <a:solidFill>
                <a:schemeClr val="dk1"/>
              </a:solidFill>
              <a:latin typeface="Calibri"/>
              <a:ea typeface="Calibri"/>
              <a:cs typeface="Calibri"/>
              <a:sym typeface="Calibri"/>
            </a:endParaRPr>
          </a:p>
        </p:txBody>
      </p:sp>
      <p:sp>
        <p:nvSpPr>
          <p:cNvPr id="244" name="Google Shape;244;p11"/>
          <p:cNvSpPr/>
          <p:nvPr/>
        </p:nvSpPr>
        <p:spPr>
          <a:xfrm>
            <a:off x="8321040" y="2148840"/>
            <a:ext cx="594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Résolu</a:t>
            </a:r>
            <a:endParaRPr b="0" i="0" sz="700" u="none" cap="none" strike="noStrike">
              <a:solidFill>
                <a:schemeClr val="dk1"/>
              </a:solidFill>
              <a:latin typeface="Calibri"/>
              <a:ea typeface="Calibri"/>
              <a:cs typeface="Calibri"/>
              <a:sym typeface="Calibri"/>
            </a:endParaRPr>
          </a:p>
        </p:txBody>
      </p:sp>
      <p:sp>
        <p:nvSpPr>
          <p:cNvPr id="245" name="Google Shape;245;p11"/>
          <p:cNvSpPr/>
          <p:nvPr/>
        </p:nvSpPr>
        <p:spPr>
          <a:xfrm>
            <a:off x="365760" y="3063240"/>
            <a:ext cx="4206240" cy="8229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365760" y="3063240"/>
            <a:ext cx="64008" cy="82296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502920" y="310896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i="0" lang="en-US" sz="1000" u="none" cap="none" strike="noStrike">
                <a:solidFill>
                  <a:srgbClr val="1A3A5C"/>
                </a:solidFill>
                <a:latin typeface="Calibri"/>
                <a:ea typeface="Calibri"/>
                <a:cs typeface="Calibri"/>
                <a:sym typeface="Calibri"/>
              </a:rPr>
              <a:t>Démarrage PC</a:t>
            </a:r>
            <a:endParaRPr b="0" i="0" sz="1000" u="none" cap="none" strike="noStrike">
              <a:solidFill>
                <a:schemeClr val="dk1"/>
              </a:solidFill>
              <a:latin typeface="Calibri"/>
              <a:ea typeface="Calibri"/>
              <a:cs typeface="Calibri"/>
              <a:sym typeface="Calibri"/>
            </a:endParaRPr>
          </a:p>
        </p:txBody>
      </p:sp>
      <p:sp>
        <p:nvSpPr>
          <p:cNvPr id="248" name="Google Shape;248;p11"/>
          <p:cNvSpPr/>
          <p:nvPr/>
        </p:nvSpPr>
        <p:spPr>
          <a:xfrm>
            <a:off x="502920" y="3410712"/>
            <a:ext cx="33832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PC qui ne démarrait pas → Reset + connexion WiFi puis branchement filaire dans un second temps</a:t>
            </a:r>
            <a:endParaRPr b="0" i="0" sz="850" u="none" cap="none" strike="noStrike">
              <a:solidFill>
                <a:schemeClr val="dk1"/>
              </a:solidFill>
              <a:latin typeface="Calibri"/>
              <a:ea typeface="Calibri"/>
              <a:cs typeface="Calibri"/>
              <a:sym typeface="Calibri"/>
            </a:endParaRPr>
          </a:p>
        </p:txBody>
      </p:sp>
      <p:sp>
        <p:nvSpPr>
          <p:cNvPr id="249" name="Google Shape;249;p11"/>
          <p:cNvSpPr/>
          <p:nvPr/>
        </p:nvSpPr>
        <p:spPr>
          <a:xfrm>
            <a:off x="3931920" y="3108960"/>
            <a:ext cx="594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Résolu</a:t>
            </a:r>
            <a:endParaRPr b="0" i="0" sz="700" u="none" cap="none" strike="noStrike">
              <a:solidFill>
                <a:schemeClr val="dk1"/>
              </a:solidFill>
              <a:latin typeface="Calibri"/>
              <a:ea typeface="Calibri"/>
              <a:cs typeface="Calibri"/>
              <a:sym typeface="Calibri"/>
            </a:endParaRPr>
          </a:p>
        </p:txBody>
      </p:sp>
      <p:sp>
        <p:nvSpPr>
          <p:cNvPr id="250" name="Google Shape;250;p11"/>
          <p:cNvSpPr/>
          <p:nvPr/>
        </p:nvSpPr>
        <p:spPr>
          <a:xfrm>
            <a:off x="4754880" y="3063240"/>
            <a:ext cx="4206240" cy="8229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4754880" y="3063240"/>
            <a:ext cx="64008" cy="82296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4892040" y="310896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i="0" lang="en-US" sz="1000" u="none" cap="none" strike="noStrike">
                <a:solidFill>
                  <a:srgbClr val="1A3A5C"/>
                </a:solidFill>
                <a:latin typeface="Calibri"/>
                <a:ea typeface="Calibri"/>
                <a:cs typeface="Calibri"/>
                <a:sym typeface="Calibri"/>
              </a:rPr>
              <a:t>Mise en veille / bandeau</a:t>
            </a:r>
            <a:endParaRPr b="0" i="0" sz="1000" u="none" cap="none" strike="noStrike">
              <a:solidFill>
                <a:schemeClr val="dk1"/>
              </a:solidFill>
              <a:latin typeface="Calibri"/>
              <a:ea typeface="Calibri"/>
              <a:cs typeface="Calibri"/>
              <a:sym typeface="Calibri"/>
            </a:endParaRPr>
          </a:p>
        </p:txBody>
      </p:sp>
      <p:sp>
        <p:nvSpPr>
          <p:cNvPr id="253" name="Google Shape;253;p11"/>
          <p:cNvSpPr/>
          <p:nvPr/>
        </p:nvSpPr>
        <p:spPr>
          <a:xfrm>
            <a:off x="4892040" y="3410712"/>
            <a:ext cx="33832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Problème de mise en veille → Vérification du capot + manipulation pour verrouiller le PC</a:t>
            </a:r>
            <a:endParaRPr b="0" i="0" sz="850" u="none" cap="none" strike="noStrike">
              <a:solidFill>
                <a:schemeClr val="dk1"/>
              </a:solidFill>
              <a:latin typeface="Calibri"/>
              <a:ea typeface="Calibri"/>
              <a:cs typeface="Calibri"/>
              <a:sym typeface="Calibri"/>
            </a:endParaRPr>
          </a:p>
        </p:txBody>
      </p:sp>
      <p:sp>
        <p:nvSpPr>
          <p:cNvPr id="254" name="Google Shape;254;p11"/>
          <p:cNvSpPr/>
          <p:nvPr/>
        </p:nvSpPr>
        <p:spPr>
          <a:xfrm>
            <a:off x="8321040" y="3108960"/>
            <a:ext cx="594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Résolu</a:t>
            </a:r>
            <a:endParaRPr b="0" i="0" sz="700" u="none" cap="none" strike="noStrike">
              <a:solidFill>
                <a:schemeClr val="dk1"/>
              </a:solidFill>
              <a:latin typeface="Calibri"/>
              <a:ea typeface="Calibri"/>
              <a:cs typeface="Calibri"/>
              <a:sym typeface="Calibri"/>
            </a:endParaRPr>
          </a:p>
        </p:txBody>
      </p:sp>
      <p:sp>
        <p:nvSpPr>
          <p:cNvPr id="255" name="Google Shape;255;p11"/>
          <p:cNvSpPr/>
          <p:nvPr/>
        </p:nvSpPr>
        <p:spPr>
          <a:xfrm>
            <a:off x="365760" y="4023360"/>
            <a:ext cx="4206240" cy="8229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365760" y="4023360"/>
            <a:ext cx="64008" cy="82296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502920" y="406908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i="0" lang="en-US" sz="1000" u="none" cap="none" strike="noStrike">
                <a:solidFill>
                  <a:srgbClr val="1A3A5C"/>
                </a:solidFill>
                <a:latin typeface="Calibri"/>
                <a:ea typeface="Calibri"/>
                <a:cs typeface="Calibri"/>
                <a:sym typeface="Calibri"/>
              </a:rPr>
              <a:t>PC ne se connecte pas réseau</a:t>
            </a:r>
            <a:endParaRPr b="0" i="0" sz="1000" u="none" cap="none" strike="noStrike">
              <a:solidFill>
                <a:schemeClr val="dk1"/>
              </a:solidFill>
              <a:latin typeface="Calibri"/>
              <a:ea typeface="Calibri"/>
              <a:cs typeface="Calibri"/>
              <a:sym typeface="Calibri"/>
            </a:endParaRPr>
          </a:p>
        </p:txBody>
      </p:sp>
      <p:sp>
        <p:nvSpPr>
          <p:cNvPr id="258" name="Google Shape;258;p11"/>
          <p:cNvSpPr/>
          <p:nvPr/>
        </p:nvSpPr>
        <p:spPr>
          <a:xfrm>
            <a:off x="502920" y="4370832"/>
            <a:ext cx="33832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Dysfonctionnement réseau → Reconstruction complète du PC</a:t>
            </a:r>
            <a:endParaRPr b="0" i="0" sz="850" u="none" cap="none" strike="noStrike">
              <a:solidFill>
                <a:schemeClr val="dk1"/>
              </a:solidFill>
              <a:latin typeface="Calibri"/>
              <a:ea typeface="Calibri"/>
              <a:cs typeface="Calibri"/>
              <a:sym typeface="Calibri"/>
            </a:endParaRPr>
          </a:p>
        </p:txBody>
      </p:sp>
      <p:sp>
        <p:nvSpPr>
          <p:cNvPr id="259" name="Google Shape;259;p11"/>
          <p:cNvSpPr/>
          <p:nvPr/>
        </p:nvSpPr>
        <p:spPr>
          <a:xfrm>
            <a:off x="3931920" y="4069080"/>
            <a:ext cx="594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Résolu</a:t>
            </a:r>
            <a:endParaRPr b="0" i="0" sz="700" u="none" cap="none" strike="noStrike">
              <a:solidFill>
                <a:schemeClr val="dk1"/>
              </a:solidFill>
              <a:latin typeface="Calibri"/>
              <a:ea typeface="Calibri"/>
              <a:cs typeface="Calibri"/>
              <a:sym typeface="Calibri"/>
            </a:endParaRPr>
          </a:p>
        </p:txBody>
      </p:sp>
      <p:sp>
        <p:nvSpPr>
          <p:cNvPr id="260" name="Google Shape;260;p11"/>
          <p:cNvSpPr/>
          <p:nvPr/>
        </p:nvSpPr>
        <p:spPr>
          <a:xfrm>
            <a:off x="4754880" y="4023360"/>
            <a:ext cx="4206240" cy="82296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4754880" y="4023360"/>
            <a:ext cx="64008" cy="82296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4892040" y="406908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3A5C"/>
              </a:buClr>
              <a:buSzPts val="1000"/>
              <a:buFont typeface="Calibri"/>
              <a:buNone/>
            </a:pPr>
            <a:r>
              <a:rPr b="1" i="0" lang="en-US" sz="1000" u="none" cap="none" strike="noStrike">
                <a:solidFill>
                  <a:srgbClr val="1A3A5C"/>
                </a:solidFill>
                <a:latin typeface="Calibri"/>
                <a:ea typeface="Calibri"/>
                <a:cs typeface="Calibri"/>
                <a:sym typeface="Calibri"/>
              </a:rPr>
              <a:t>Problème d'impression</a:t>
            </a:r>
            <a:endParaRPr b="0" i="0" sz="1000" u="none" cap="none" strike="noStrike">
              <a:solidFill>
                <a:schemeClr val="dk1"/>
              </a:solidFill>
              <a:latin typeface="Calibri"/>
              <a:ea typeface="Calibri"/>
              <a:cs typeface="Calibri"/>
              <a:sym typeface="Calibri"/>
            </a:endParaRPr>
          </a:p>
        </p:txBody>
      </p:sp>
      <p:sp>
        <p:nvSpPr>
          <p:cNvPr id="263" name="Google Shape;263;p11"/>
          <p:cNvSpPr/>
          <p:nvPr/>
        </p:nvSpPr>
        <p:spPr>
          <a:xfrm>
            <a:off x="4892040" y="4370832"/>
            <a:ext cx="33832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Explication de l'impression par badge aux utilisateurs</a:t>
            </a:r>
            <a:endParaRPr b="0" i="0" sz="850" u="none" cap="none" strike="noStrike">
              <a:solidFill>
                <a:schemeClr val="dk1"/>
              </a:solidFill>
              <a:latin typeface="Calibri"/>
              <a:ea typeface="Calibri"/>
              <a:cs typeface="Calibri"/>
              <a:sym typeface="Calibri"/>
            </a:endParaRPr>
          </a:p>
        </p:txBody>
      </p:sp>
      <p:sp>
        <p:nvSpPr>
          <p:cNvPr id="264" name="Google Shape;264;p11"/>
          <p:cNvSpPr/>
          <p:nvPr/>
        </p:nvSpPr>
        <p:spPr>
          <a:xfrm>
            <a:off x="8321040" y="4069080"/>
            <a:ext cx="59436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D7377"/>
              </a:buClr>
              <a:buSzPts val="700"/>
              <a:buFont typeface="Calibri"/>
              <a:buNone/>
            </a:pPr>
            <a:r>
              <a:rPr b="1" i="0" lang="en-US" sz="700" u="none" cap="none" strike="noStrike">
                <a:solidFill>
                  <a:srgbClr val="0D7377"/>
                </a:solidFill>
                <a:latin typeface="Calibri"/>
                <a:ea typeface="Calibri"/>
                <a:cs typeface="Calibri"/>
                <a:sym typeface="Calibri"/>
              </a:rPr>
              <a:t>Formation</a:t>
            </a:r>
            <a:endParaRPr b="0" i="0" sz="700" u="none" cap="none" strike="noStrike">
              <a:solidFill>
                <a:schemeClr val="dk1"/>
              </a:solidFill>
              <a:latin typeface="Calibri"/>
              <a:ea typeface="Calibri"/>
              <a:cs typeface="Calibri"/>
              <a:sym typeface="Calibri"/>
            </a:endParaRPr>
          </a:p>
        </p:txBody>
      </p:sp>
      <p:sp>
        <p:nvSpPr>
          <p:cNvPr id="265" name="Google Shape;265;p11"/>
          <p:cNvSpPr/>
          <p:nvPr/>
        </p:nvSpPr>
        <p:spPr>
          <a:xfrm>
            <a:off x="45720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45720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Présentation</a:t>
            </a:r>
            <a:endParaRPr b="0" i="0" sz="800" u="none" cap="none" strike="noStrike">
              <a:solidFill>
                <a:schemeClr val="dk1"/>
              </a:solidFill>
              <a:latin typeface="Calibri"/>
              <a:ea typeface="Calibri"/>
              <a:cs typeface="Calibri"/>
              <a:sym typeface="Calibri"/>
            </a:endParaRPr>
          </a:p>
        </p:txBody>
      </p:sp>
      <p:sp>
        <p:nvSpPr>
          <p:cNvPr id="267" name="Google Shape;267;p11"/>
          <p:cNvSpPr/>
          <p:nvPr/>
        </p:nvSpPr>
        <p:spPr>
          <a:xfrm>
            <a:off x="256032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256032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1ère Année</a:t>
            </a:r>
            <a:endParaRPr b="0" i="0" sz="800" u="none" cap="none" strike="noStrike">
              <a:solidFill>
                <a:schemeClr val="dk1"/>
              </a:solidFill>
              <a:latin typeface="Calibri"/>
              <a:ea typeface="Calibri"/>
              <a:cs typeface="Calibri"/>
              <a:sym typeface="Calibri"/>
            </a:endParaRPr>
          </a:p>
        </p:txBody>
      </p:sp>
      <p:sp>
        <p:nvSpPr>
          <p:cNvPr id="269" name="Google Shape;269;p11"/>
          <p:cNvSpPr/>
          <p:nvPr/>
        </p:nvSpPr>
        <p:spPr>
          <a:xfrm>
            <a:off x="4663440" y="4754880"/>
            <a:ext cx="2011680" cy="274320"/>
          </a:xfrm>
          <a:prstGeom prst="roundRect">
            <a:avLst>
              <a:gd fmla="val 16667" name="adj"/>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a:off x="466344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2ème Année</a:t>
            </a:r>
            <a:endParaRPr b="0" i="0" sz="800" u="none" cap="none" strike="noStrike">
              <a:solidFill>
                <a:schemeClr val="dk1"/>
              </a:solidFill>
              <a:latin typeface="Calibri"/>
              <a:ea typeface="Calibri"/>
              <a:cs typeface="Calibri"/>
              <a:sym typeface="Calibri"/>
            </a:endParaRPr>
          </a:p>
        </p:txBody>
      </p:sp>
      <p:sp>
        <p:nvSpPr>
          <p:cNvPr id="271" name="Google Shape;271;p11"/>
          <p:cNvSpPr/>
          <p:nvPr/>
        </p:nvSpPr>
        <p:spPr>
          <a:xfrm>
            <a:off x="676656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676656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Bilan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B"/>
        </a:solidFill>
      </p:bgPr>
    </p:bg>
    <p:spTree>
      <p:nvGrpSpPr>
        <p:cNvPr id="277" name="Shape 277"/>
        <p:cNvGrpSpPr/>
        <p:nvPr/>
      </p:nvGrpSpPr>
      <p:grpSpPr>
        <a:xfrm>
          <a:off x="0" y="0"/>
          <a:ext cx="0" cy="0"/>
          <a:chOff x="0" y="0"/>
          <a:chExt cx="0" cy="0"/>
        </a:xfrm>
      </p:grpSpPr>
      <p:sp>
        <p:nvSpPr>
          <p:cNvPr id="278" name="Google Shape;278;p12"/>
          <p:cNvSpPr/>
          <p:nvPr/>
        </p:nvSpPr>
        <p:spPr>
          <a:xfrm>
            <a:off x="0" y="0"/>
            <a:ext cx="9144000" cy="100584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457200" y="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04 — Bilan &amp; Compétences acquises</a:t>
            </a:r>
            <a:endParaRPr b="0" i="0" sz="2200" u="none" cap="none" strike="noStrike">
              <a:solidFill>
                <a:schemeClr val="dk1"/>
              </a:solidFill>
              <a:latin typeface="Calibri"/>
              <a:ea typeface="Calibri"/>
              <a:cs typeface="Calibri"/>
              <a:sym typeface="Calibri"/>
            </a:endParaRPr>
          </a:p>
        </p:txBody>
      </p:sp>
      <p:sp>
        <p:nvSpPr>
          <p:cNvPr id="280" name="Google Shape;280;p12"/>
          <p:cNvSpPr/>
          <p:nvPr/>
        </p:nvSpPr>
        <p:spPr>
          <a:xfrm>
            <a:off x="365760" y="1143000"/>
            <a:ext cx="4114800" cy="182880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65760" y="1143000"/>
            <a:ext cx="4114800" cy="41148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457200" y="1143000"/>
            <a:ext cx="39319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Matériel &amp; Infrastructure</a:t>
            </a:r>
            <a:endParaRPr b="0" i="0" sz="1200" u="none" cap="none" strike="noStrike">
              <a:solidFill>
                <a:schemeClr val="dk1"/>
              </a:solidFill>
              <a:latin typeface="Calibri"/>
              <a:ea typeface="Calibri"/>
              <a:cs typeface="Calibri"/>
              <a:sym typeface="Calibri"/>
            </a:endParaRPr>
          </a:p>
        </p:txBody>
      </p:sp>
      <p:sp>
        <p:nvSpPr>
          <p:cNvPr id="283" name="Google Shape;283;p12"/>
          <p:cNvSpPr/>
          <p:nvPr/>
        </p:nvSpPr>
        <p:spPr>
          <a:xfrm>
            <a:off x="457200" y="1600200"/>
            <a:ext cx="3931920" cy="12801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Changement et reconstruction de PC</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Boot réseau (NAT, SCCM, F12)</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Réparation écran, câble, daisy chain</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Gestion casques et périphériques</a:t>
            </a:r>
            <a:endParaRPr b="0" i="0" sz="1000" u="none" cap="none" strike="noStrike">
              <a:solidFill>
                <a:schemeClr val="dk1"/>
              </a:solidFill>
              <a:latin typeface="Calibri"/>
              <a:ea typeface="Calibri"/>
              <a:cs typeface="Calibri"/>
              <a:sym typeface="Calibri"/>
            </a:endParaRPr>
          </a:p>
        </p:txBody>
      </p:sp>
      <p:sp>
        <p:nvSpPr>
          <p:cNvPr id="284" name="Google Shape;284;p12"/>
          <p:cNvSpPr/>
          <p:nvPr/>
        </p:nvSpPr>
        <p:spPr>
          <a:xfrm>
            <a:off x="4754880" y="1143000"/>
            <a:ext cx="4114800" cy="182880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754880" y="1143000"/>
            <a:ext cx="4114800" cy="411480"/>
          </a:xfrm>
          <a:prstGeom prst="rect">
            <a:avLst/>
          </a:prstGeom>
          <a:solidFill>
            <a:srgbClr val="1A3A5C"/>
          </a:solidFill>
          <a:ln cap="flat" cmpd="sng" w="12700">
            <a:solidFill>
              <a:srgbClr val="1A3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46320" y="1143000"/>
            <a:ext cx="39319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Logiciels &amp; Systèmes</a:t>
            </a:r>
            <a:endParaRPr b="0" i="0" sz="1200" u="none" cap="none" strike="noStrike">
              <a:solidFill>
                <a:schemeClr val="dk1"/>
              </a:solidFill>
              <a:latin typeface="Calibri"/>
              <a:ea typeface="Calibri"/>
              <a:cs typeface="Calibri"/>
              <a:sym typeface="Calibri"/>
            </a:endParaRPr>
          </a:p>
        </p:txBody>
      </p:sp>
      <p:sp>
        <p:nvSpPr>
          <p:cNvPr id="287" name="Google Shape;287;p12"/>
          <p:cNvSpPr/>
          <p:nvPr/>
        </p:nvSpPr>
        <p:spPr>
          <a:xfrm>
            <a:off x="4846320" y="1600200"/>
            <a:ext cx="3931920" cy="12801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Active Directory (attributs, groupes)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SCCM (devices, remote control)</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Usercube (habilitations)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Émulateur CABON/EABON/ENVR/ENIVV</a:t>
            </a:r>
            <a:endParaRPr b="0" i="0" sz="1000" u="none" cap="none" strike="noStrike">
              <a:solidFill>
                <a:schemeClr val="dk1"/>
              </a:solidFill>
              <a:latin typeface="Calibri"/>
              <a:ea typeface="Calibri"/>
              <a:cs typeface="Calibri"/>
              <a:sym typeface="Calibri"/>
            </a:endParaRPr>
          </a:p>
        </p:txBody>
      </p:sp>
      <p:sp>
        <p:nvSpPr>
          <p:cNvPr id="288" name="Google Shape;288;p12"/>
          <p:cNvSpPr/>
          <p:nvPr/>
        </p:nvSpPr>
        <p:spPr>
          <a:xfrm>
            <a:off x="365760" y="3108960"/>
            <a:ext cx="4114800" cy="182880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65760" y="3108960"/>
            <a:ext cx="4114800" cy="41148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457200" y="3108960"/>
            <a:ext cx="39319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Relation &amp; Communication</a:t>
            </a:r>
            <a:endParaRPr b="0" i="0" sz="1200" u="none" cap="none" strike="noStrike">
              <a:solidFill>
                <a:schemeClr val="dk1"/>
              </a:solidFill>
              <a:latin typeface="Calibri"/>
              <a:ea typeface="Calibri"/>
              <a:cs typeface="Calibri"/>
              <a:sym typeface="Calibri"/>
            </a:endParaRPr>
          </a:p>
        </p:txBody>
      </p:sp>
      <p:sp>
        <p:nvSpPr>
          <p:cNvPr id="291" name="Google Shape;291;p12"/>
          <p:cNvSpPr/>
          <p:nvPr/>
        </p:nvSpPr>
        <p:spPr>
          <a:xfrm>
            <a:off x="457200" y="3566160"/>
            <a:ext cx="3931920" cy="12801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Formation nouveaux arrivants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Déplacements multi-sites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Rédaction mails professionnels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Permanences en CRC Toulouse</a:t>
            </a:r>
            <a:endParaRPr b="0" i="0" sz="1000" u="none" cap="none" strike="noStrike">
              <a:solidFill>
                <a:schemeClr val="dk1"/>
              </a:solidFill>
              <a:latin typeface="Calibri"/>
              <a:ea typeface="Calibri"/>
              <a:cs typeface="Calibri"/>
              <a:sym typeface="Calibri"/>
            </a:endParaRPr>
          </a:p>
        </p:txBody>
      </p:sp>
      <p:sp>
        <p:nvSpPr>
          <p:cNvPr id="292" name="Google Shape;292;p12"/>
          <p:cNvSpPr/>
          <p:nvPr/>
        </p:nvSpPr>
        <p:spPr>
          <a:xfrm>
            <a:off x="4754880" y="3108960"/>
            <a:ext cx="4114800" cy="1828800"/>
          </a:xfrm>
          <a:prstGeom prst="rect">
            <a:avLst/>
          </a:prstGeom>
          <a:solidFill>
            <a:srgbClr val="FFFFFF"/>
          </a:solidFill>
          <a:ln cap="flat" cmpd="sng" w="12700">
            <a:solidFill>
              <a:srgbClr val="E8EEF4"/>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754880" y="3108960"/>
            <a:ext cx="4114800" cy="41148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46320" y="3108960"/>
            <a:ext cx="39319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Projets</a:t>
            </a:r>
            <a:endParaRPr b="0" i="0" sz="1200" u="none" cap="none" strike="noStrike">
              <a:solidFill>
                <a:schemeClr val="dk1"/>
              </a:solidFill>
              <a:latin typeface="Calibri"/>
              <a:ea typeface="Calibri"/>
              <a:cs typeface="Calibri"/>
              <a:sym typeface="Calibri"/>
            </a:endParaRPr>
          </a:p>
        </p:txBody>
      </p:sp>
      <p:sp>
        <p:nvSpPr>
          <p:cNvPr id="295" name="Google Shape;295;p12"/>
          <p:cNvSpPr/>
          <p:nvPr/>
        </p:nvSpPr>
        <p:spPr>
          <a:xfrm>
            <a:off x="4846320" y="3566160"/>
            <a:ext cx="3931920" cy="12801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Projet T590/T15 — Migration parc PC</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Projet ADDICT — Accompagnement agences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Montée en compétence habilitations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Calibri"/>
              <a:buChar char="•"/>
            </a:pPr>
            <a:r>
              <a:rPr b="0" i="0" lang="en-US" sz="1000" u="none" cap="none" strike="noStrike">
                <a:solidFill>
                  <a:srgbClr val="334155"/>
                </a:solidFill>
                <a:latin typeface="Calibri"/>
                <a:ea typeface="Calibri"/>
                <a:cs typeface="Calibri"/>
                <a:sym typeface="Calibri"/>
              </a:rPr>
              <a:t>Gestion de stock et palette</a:t>
            </a:r>
            <a:endParaRPr b="0" i="0" sz="1000" u="none" cap="none" strike="noStrike">
              <a:solidFill>
                <a:schemeClr val="dk1"/>
              </a:solidFill>
              <a:latin typeface="Calibri"/>
              <a:ea typeface="Calibri"/>
              <a:cs typeface="Calibri"/>
              <a:sym typeface="Calibri"/>
            </a:endParaRPr>
          </a:p>
        </p:txBody>
      </p:sp>
      <p:sp>
        <p:nvSpPr>
          <p:cNvPr id="296" name="Google Shape;296;p12"/>
          <p:cNvSpPr/>
          <p:nvPr/>
        </p:nvSpPr>
        <p:spPr>
          <a:xfrm>
            <a:off x="45720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45720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Présentation</a:t>
            </a:r>
            <a:endParaRPr b="0" i="0" sz="800" u="none" cap="none" strike="noStrike">
              <a:solidFill>
                <a:schemeClr val="dk1"/>
              </a:solidFill>
              <a:latin typeface="Calibri"/>
              <a:ea typeface="Calibri"/>
              <a:cs typeface="Calibri"/>
              <a:sym typeface="Calibri"/>
            </a:endParaRPr>
          </a:p>
        </p:txBody>
      </p:sp>
      <p:sp>
        <p:nvSpPr>
          <p:cNvPr id="298" name="Google Shape;298;p12"/>
          <p:cNvSpPr/>
          <p:nvPr/>
        </p:nvSpPr>
        <p:spPr>
          <a:xfrm>
            <a:off x="256032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
          <p:cNvSpPr/>
          <p:nvPr/>
        </p:nvSpPr>
        <p:spPr>
          <a:xfrm>
            <a:off x="256032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1ère Année</a:t>
            </a:r>
            <a:endParaRPr b="0" i="0" sz="800" u="none" cap="none" strike="noStrike">
              <a:solidFill>
                <a:schemeClr val="dk1"/>
              </a:solidFill>
              <a:latin typeface="Calibri"/>
              <a:ea typeface="Calibri"/>
              <a:cs typeface="Calibri"/>
              <a:sym typeface="Calibri"/>
            </a:endParaRPr>
          </a:p>
        </p:txBody>
      </p:sp>
      <p:sp>
        <p:nvSpPr>
          <p:cNvPr id="300" name="Google Shape;300;p12"/>
          <p:cNvSpPr/>
          <p:nvPr/>
        </p:nvSpPr>
        <p:spPr>
          <a:xfrm>
            <a:off x="4663440" y="4754880"/>
            <a:ext cx="2011680" cy="274320"/>
          </a:xfrm>
          <a:prstGeom prst="roundRect">
            <a:avLst>
              <a:gd fmla="val 16667" name="adj"/>
            </a:avLst>
          </a:prstGeom>
          <a:solidFill>
            <a:srgbClr val="E8EEF4"/>
          </a:solidFill>
          <a:ln cap="flat" cmpd="sng" w="12700">
            <a:solidFill>
              <a:srgbClr val="E8EE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2"/>
          <p:cNvSpPr/>
          <p:nvPr/>
        </p:nvSpPr>
        <p:spPr>
          <a:xfrm>
            <a:off x="466344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2ème Année</a:t>
            </a:r>
            <a:endParaRPr b="0" i="0" sz="800" u="none" cap="none" strike="noStrike">
              <a:solidFill>
                <a:schemeClr val="dk1"/>
              </a:solidFill>
              <a:latin typeface="Calibri"/>
              <a:ea typeface="Calibri"/>
              <a:cs typeface="Calibri"/>
              <a:sym typeface="Calibri"/>
            </a:endParaRPr>
          </a:p>
        </p:txBody>
      </p:sp>
      <p:sp>
        <p:nvSpPr>
          <p:cNvPr id="302" name="Google Shape;302;p12"/>
          <p:cNvSpPr/>
          <p:nvPr/>
        </p:nvSpPr>
        <p:spPr>
          <a:xfrm>
            <a:off x="6766560" y="4754880"/>
            <a:ext cx="2011680" cy="274320"/>
          </a:xfrm>
          <a:prstGeom prst="roundRect">
            <a:avLst>
              <a:gd fmla="val 16667" name="adj"/>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2"/>
          <p:cNvSpPr/>
          <p:nvPr/>
        </p:nvSpPr>
        <p:spPr>
          <a:xfrm>
            <a:off x="6766560" y="4754880"/>
            <a:ext cx="20116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Bilan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A5C"/>
        </a:solidFill>
      </p:bgPr>
    </p:bg>
    <p:spTree>
      <p:nvGrpSpPr>
        <p:cNvPr id="308" name="Shape 308"/>
        <p:cNvGrpSpPr/>
        <p:nvPr/>
      </p:nvGrpSpPr>
      <p:grpSpPr>
        <a:xfrm>
          <a:off x="0" y="0"/>
          <a:ext cx="0" cy="0"/>
          <a:chOff x="0" y="0"/>
          <a:chExt cx="0" cy="0"/>
        </a:xfrm>
      </p:grpSpPr>
      <p:sp>
        <p:nvSpPr>
          <p:cNvPr id="309" name="Google Shape;309;p13"/>
          <p:cNvSpPr/>
          <p:nvPr/>
        </p:nvSpPr>
        <p:spPr>
          <a:xfrm>
            <a:off x="0" y="0"/>
            <a:ext cx="182880" cy="5143500"/>
          </a:xfrm>
          <a:prstGeom prst="rect">
            <a:avLst/>
          </a:prstGeom>
          <a:solidFill>
            <a:srgbClr val="0D7377"/>
          </a:solidFill>
          <a:ln cap="flat" cmpd="sng" w="12700">
            <a:solidFill>
              <a:srgbClr val="0D73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
          <p:cNvSpPr/>
          <p:nvPr/>
        </p:nvSpPr>
        <p:spPr>
          <a:xfrm>
            <a:off x="0" y="4114800"/>
            <a:ext cx="9144000" cy="1028700"/>
          </a:xfrm>
          <a:prstGeom prst="rect">
            <a:avLst/>
          </a:prstGeom>
          <a:solidFill>
            <a:srgbClr val="0D7377">
              <a:alpha val="20000"/>
            </a:srgbClr>
          </a:solidFill>
          <a:ln cap="flat" cmpd="sng" w="12700">
            <a:solidFill>
              <a:srgbClr val="0D7377">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3"/>
          <p:cNvSpPr/>
          <p:nvPr/>
        </p:nvSpPr>
        <p:spPr>
          <a:xfrm>
            <a:off x="457200" y="45720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Conclusion</a:t>
            </a:r>
            <a:endParaRPr b="0" i="0" sz="3200" u="none" cap="none" strike="noStrike">
              <a:solidFill>
                <a:schemeClr val="dk1"/>
              </a:solidFill>
              <a:latin typeface="Calibri"/>
              <a:ea typeface="Calibri"/>
              <a:cs typeface="Calibri"/>
              <a:sym typeface="Calibri"/>
            </a:endParaRPr>
          </a:p>
        </p:txBody>
      </p:sp>
      <p:sp>
        <p:nvSpPr>
          <p:cNvPr id="312" name="Google Shape;312;p13"/>
          <p:cNvSpPr/>
          <p:nvPr/>
        </p:nvSpPr>
        <p:spPr>
          <a:xfrm>
            <a:off x="457200" y="1143000"/>
            <a:ext cx="3200400" cy="36576"/>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457200" y="1280160"/>
            <a:ext cx="82296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Ces deux années de stage BTS au sein du service Support de Proximité de la MACIF m'ont permis de développer des compétences solides en support informatique terrain, gestion de parc, habilitations et relation utilisateurs.</a:t>
            </a:r>
            <a:endParaRPr b="0" i="0" sz="1300" u="none" cap="none" strike="noStrike">
              <a:solidFill>
                <a:schemeClr val="dk1"/>
              </a:solidFill>
              <a:latin typeface="Calibri"/>
              <a:ea typeface="Calibri"/>
              <a:cs typeface="Calibri"/>
              <a:sym typeface="Calibri"/>
            </a:endParaRPr>
          </a:p>
        </p:txBody>
      </p:sp>
      <p:sp>
        <p:nvSpPr>
          <p:cNvPr id="314" name="Google Shape;314;p13"/>
          <p:cNvSpPr/>
          <p:nvPr/>
        </p:nvSpPr>
        <p:spPr>
          <a:xfrm>
            <a:off x="457200" y="237744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BDBD"/>
              </a:buClr>
              <a:buSzPts val="1300"/>
              <a:buFont typeface="Calibri"/>
              <a:buNone/>
            </a:pPr>
            <a:r>
              <a:rPr b="0" i="0" lang="en-US" sz="1300" u="none" cap="none" strike="noStrike">
                <a:solidFill>
                  <a:srgbClr val="14BDBD"/>
                </a:solidFill>
                <a:latin typeface="Calibri"/>
                <a:ea typeface="Calibri"/>
                <a:cs typeface="Calibri"/>
                <a:sym typeface="Calibri"/>
              </a:rPr>
              <a:t>J'ai eu l'opportunité de participer à des projets d'envergure (migration T590, projet ADDICT) et d'intervenir sur de nombreux sites en autonomie grandissante.</a:t>
            </a:r>
            <a:endParaRPr b="0" i="0" sz="1300" u="none" cap="none" strike="noStrike">
              <a:solidFill>
                <a:schemeClr val="dk1"/>
              </a:solidFill>
              <a:latin typeface="Calibri"/>
              <a:ea typeface="Calibri"/>
              <a:cs typeface="Calibri"/>
              <a:sym typeface="Calibri"/>
            </a:endParaRPr>
          </a:p>
        </p:txBody>
      </p:sp>
      <p:sp>
        <p:nvSpPr>
          <p:cNvPr id="315" name="Google Shape;315;p13"/>
          <p:cNvSpPr/>
          <p:nvPr/>
        </p:nvSpPr>
        <p:spPr>
          <a:xfrm>
            <a:off x="457200" y="3291840"/>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2800"/>
              <a:buFont typeface="Calibri"/>
              <a:buNone/>
            </a:pPr>
            <a:r>
              <a:rPr b="1" i="0" lang="en-US" sz="2800" u="none" cap="none" strike="noStrike">
                <a:solidFill>
                  <a:srgbClr val="F59E0B"/>
                </a:solidFill>
                <a:latin typeface="Calibri"/>
                <a:ea typeface="Calibri"/>
                <a:cs typeface="Calibri"/>
                <a:sym typeface="Calibri"/>
              </a:rPr>
              <a:t>5+</a:t>
            </a:r>
            <a:endParaRPr b="0" i="0" sz="2800" u="none" cap="none" strike="noStrike">
              <a:solidFill>
                <a:schemeClr val="dk1"/>
              </a:solidFill>
              <a:latin typeface="Calibri"/>
              <a:ea typeface="Calibri"/>
              <a:cs typeface="Calibri"/>
              <a:sym typeface="Calibri"/>
            </a:endParaRPr>
          </a:p>
        </p:txBody>
      </p:sp>
      <p:sp>
        <p:nvSpPr>
          <p:cNvPr id="316" name="Google Shape;316;p13"/>
          <p:cNvSpPr/>
          <p:nvPr/>
        </p:nvSpPr>
        <p:spPr>
          <a:xfrm>
            <a:off x="457200" y="3931920"/>
            <a:ext cx="19202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Sites visités</a:t>
            </a:r>
            <a:endParaRPr b="0" i="0" sz="1000" u="none" cap="none" strike="noStrike">
              <a:solidFill>
                <a:schemeClr val="dk1"/>
              </a:solidFill>
              <a:latin typeface="Calibri"/>
              <a:ea typeface="Calibri"/>
              <a:cs typeface="Calibri"/>
              <a:sym typeface="Calibri"/>
            </a:endParaRPr>
          </a:p>
        </p:txBody>
      </p:sp>
      <p:sp>
        <p:nvSpPr>
          <p:cNvPr id="317" name="Google Shape;317;p13"/>
          <p:cNvSpPr/>
          <p:nvPr/>
        </p:nvSpPr>
        <p:spPr>
          <a:xfrm>
            <a:off x="2560320" y="3291840"/>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2800"/>
              <a:buFont typeface="Calibri"/>
              <a:buNone/>
            </a:pPr>
            <a:r>
              <a:rPr b="1" i="0" lang="en-US" sz="2800" u="none" cap="none" strike="noStrike">
                <a:solidFill>
                  <a:srgbClr val="F59E0B"/>
                </a:solidFill>
                <a:latin typeface="Calibri"/>
                <a:ea typeface="Calibri"/>
                <a:cs typeface="Calibri"/>
                <a:sym typeface="Calibri"/>
              </a:rPr>
              <a:t>2 ans</a:t>
            </a:r>
            <a:endParaRPr b="0" i="0" sz="2800" u="none" cap="none" strike="noStrike">
              <a:solidFill>
                <a:schemeClr val="dk1"/>
              </a:solidFill>
              <a:latin typeface="Calibri"/>
              <a:ea typeface="Calibri"/>
              <a:cs typeface="Calibri"/>
              <a:sym typeface="Calibri"/>
            </a:endParaRPr>
          </a:p>
        </p:txBody>
      </p:sp>
      <p:sp>
        <p:nvSpPr>
          <p:cNvPr id="318" name="Google Shape;318;p13"/>
          <p:cNvSpPr/>
          <p:nvPr/>
        </p:nvSpPr>
        <p:spPr>
          <a:xfrm>
            <a:off x="2560320" y="3931920"/>
            <a:ext cx="19202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De stage BTS</a:t>
            </a:r>
            <a:endParaRPr b="0" i="0" sz="1000" u="none" cap="none" strike="noStrike">
              <a:solidFill>
                <a:schemeClr val="dk1"/>
              </a:solidFill>
              <a:latin typeface="Calibri"/>
              <a:ea typeface="Calibri"/>
              <a:cs typeface="Calibri"/>
              <a:sym typeface="Calibri"/>
            </a:endParaRPr>
          </a:p>
        </p:txBody>
      </p:sp>
      <p:sp>
        <p:nvSpPr>
          <p:cNvPr id="319" name="Google Shape;319;p13"/>
          <p:cNvSpPr/>
          <p:nvPr/>
        </p:nvSpPr>
        <p:spPr>
          <a:xfrm>
            <a:off x="4663440" y="3291840"/>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2800"/>
              <a:buFont typeface="Calibri"/>
              <a:buNone/>
            </a:pPr>
            <a:r>
              <a:rPr b="1" i="0" lang="en-US" sz="2800" u="none" cap="none" strike="noStrike">
                <a:solidFill>
                  <a:srgbClr val="F59E0B"/>
                </a:solidFill>
                <a:latin typeface="Calibri"/>
                <a:ea typeface="Calibri"/>
                <a:cs typeface="Calibri"/>
                <a:sym typeface="Calibri"/>
              </a:rPr>
              <a:t>100+</a:t>
            </a:r>
            <a:endParaRPr b="0" i="0" sz="2800" u="none" cap="none" strike="noStrike">
              <a:solidFill>
                <a:schemeClr val="dk1"/>
              </a:solidFill>
              <a:latin typeface="Calibri"/>
              <a:ea typeface="Calibri"/>
              <a:cs typeface="Calibri"/>
              <a:sym typeface="Calibri"/>
            </a:endParaRPr>
          </a:p>
        </p:txBody>
      </p:sp>
      <p:sp>
        <p:nvSpPr>
          <p:cNvPr id="320" name="Google Shape;320;p13"/>
          <p:cNvSpPr/>
          <p:nvPr/>
        </p:nvSpPr>
        <p:spPr>
          <a:xfrm>
            <a:off x="4663440" y="3931920"/>
            <a:ext cx="19202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PC changés</a:t>
            </a:r>
            <a:endParaRPr b="0" i="0" sz="1000" u="none" cap="none" strike="noStrike">
              <a:solidFill>
                <a:schemeClr val="dk1"/>
              </a:solidFill>
              <a:latin typeface="Calibri"/>
              <a:ea typeface="Calibri"/>
              <a:cs typeface="Calibri"/>
              <a:sym typeface="Calibri"/>
            </a:endParaRPr>
          </a:p>
        </p:txBody>
      </p:sp>
      <p:sp>
        <p:nvSpPr>
          <p:cNvPr id="321" name="Google Shape;321;p13"/>
          <p:cNvSpPr/>
          <p:nvPr/>
        </p:nvSpPr>
        <p:spPr>
          <a:xfrm>
            <a:off x="6766560" y="3291840"/>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9E0B"/>
              </a:buClr>
              <a:buSzPts val="2800"/>
              <a:buFont typeface="Calibri"/>
              <a:buNone/>
            </a:pPr>
            <a:r>
              <a:rPr b="1" i="0" lang="en-US" sz="2800" u="none" cap="none" strike="noStrike">
                <a:solidFill>
                  <a:srgbClr val="F59E0B"/>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322" name="Google Shape;322;p13"/>
          <p:cNvSpPr/>
          <p:nvPr/>
        </p:nvSpPr>
        <p:spPr>
          <a:xfrm>
            <a:off x="6766560" y="3931920"/>
            <a:ext cx="19202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Tickets traités</a:t>
            </a:r>
            <a:endParaRPr b="0" i="0" sz="1000" u="none" cap="none" strike="noStrike">
              <a:solidFill>
                <a:schemeClr val="dk1"/>
              </a:solidFill>
              <a:latin typeface="Calibri"/>
              <a:ea typeface="Calibri"/>
              <a:cs typeface="Calibri"/>
              <a:sym typeface="Calibri"/>
            </a:endParaRPr>
          </a:p>
        </p:txBody>
      </p:sp>
      <p:sp>
        <p:nvSpPr>
          <p:cNvPr id="323" name="Google Shape;323;p13"/>
          <p:cNvSpPr/>
          <p:nvPr/>
        </p:nvSpPr>
        <p:spPr>
          <a:xfrm>
            <a:off x="0" y="4754880"/>
            <a:ext cx="91440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4BDBD"/>
              </a:buClr>
              <a:buSzPts val="900"/>
              <a:buFont typeface="Calibri"/>
              <a:buNone/>
            </a:pPr>
            <a:r>
              <a:rPr b="0" i="0" lang="en-US" sz="900" u="none" cap="none" strike="noStrike">
                <a:solidFill>
                  <a:srgbClr val="14BDBD"/>
                </a:solidFill>
                <a:latin typeface="Calibri"/>
                <a:ea typeface="Calibri"/>
                <a:cs typeface="Calibri"/>
                <a:sym typeface="Calibri"/>
              </a:rPr>
              <a:t>Melvin Patel — BTS SIO — MACIF 2024/2026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